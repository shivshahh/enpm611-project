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slides/slide1.xml" ContentType="application/vnd.openxmlformats-officedocument.presentationml.slide+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type="sldImg"/>
          </p:nvPr>
        </p:nvSpPr>
        <p:spPr>
          <a:xfrm>
            <a:off x="0" y="764280"/>
            <a:ext cx="0" cy="0"/>
          </a:xfrm>
          <a:prstGeom prst="rect">
            <a:avLst/>
          </a:prstGeom>
          <a:noFill/>
          <a:ln w="0">
            <a:noFill/>
          </a:ln>
        </p:spPr>
        <p:txBody>
          <a:bodyPr lIns="0" rIns="0" tIns="0" bIns="0" anchor="ctr">
            <a:noAutofit/>
          </a:bodyPr>
          <a:p>
            <a:r>
              <a:rPr b="0" lang="en-US" sz="1800" spc="-1" strike="noStrike">
                <a:solidFill>
                  <a:schemeClr val="dk1"/>
                </a:solidFill>
                <a:latin typeface="Calibri"/>
              </a:rPr>
              <a:t>Click to move the slide</a:t>
            </a:r>
            <a:endParaRPr b="0" lang="en-US" sz="1800" spc="-1" strike="noStrike">
              <a:solidFill>
                <a:schemeClr val="dk1"/>
              </a:solidFill>
              <a:latin typeface="Calibri"/>
            </a:endParaRPr>
          </a:p>
        </p:txBody>
      </p:sp>
      <p:sp>
        <p:nvSpPr>
          <p:cNvPr id="68"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69"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70" name="PlaceHolder 4"/>
          <p:cNvSpPr>
            <a:spLocks noGrp="1"/>
          </p:cNvSpPr>
          <p:nvPr>
            <p:ph type="dt" idx="34"/>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1" name="PlaceHolder 5"/>
          <p:cNvSpPr>
            <a:spLocks noGrp="1"/>
          </p:cNvSpPr>
          <p:nvPr>
            <p:ph type="ftr" idx="35"/>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2" name="PlaceHolder 6"/>
          <p:cNvSpPr>
            <a:spLocks noGrp="1"/>
          </p:cNvSpPr>
          <p:nvPr>
            <p:ph type="sldNum" idx="36"/>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A6B8CD29-0184-417A-A15C-07B7D63B59EE}"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PlaceHolder 1"/>
          <p:cNvSpPr>
            <a:spLocks noGrp="1"/>
          </p:cNvSpPr>
          <p:nvPr>
            <p:ph type="sldImg"/>
          </p:nvPr>
        </p:nvSpPr>
        <p:spPr>
          <a:xfrm>
            <a:off x="1143000" y="685800"/>
            <a:ext cx="4571640" cy="3428640"/>
          </a:xfrm>
          <a:prstGeom prst="rect">
            <a:avLst/>
          </a:prstGeom>
          <a:ln w="0">
            <a:noFill/>
          </a:ln>
        </p:spPr>
      </p:sp>
      <p:sp>
        <p:nvSpPr>
          <p:cNvPr id="27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200" spc="-1" strike="noStrike">
                <a:solidFill>
                  <a:srgbClr val="000000"/>
                </a:solidFill>
                <a:latin typeface="Calibri"/>
              </a:rPr>
              <a:t>Welcome — we're presenting our final project for ENPM611, an interactive analytics dashboard built on top of the python-poetry/poetry issue dataset.</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I'm [name], and these are my teammates Michael and Shiv. Over the next 10 minutes we'll cover three things: how the design evolved from what we submitted in milestone 1, how we approached testing and what we learned from it, and the analyses behind a live demo of the dashboard. We'll spend the last 5 minutes walking through the dashboard live, answering one question — is the Poetry project healthy?</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A quick framing note before we start: we treated this project the way we'd treat a real data product. The seed code gave us a CLI and a JSON file. By the end we had a multi-page web dashboard plus a unit-test harness — and the journey between those two states is most of the story.</a:t>
            </a:r>
            <a:endParaRPr b="0" lang="en-US" sz="1200" spc="-1" strike="noStrike">
              <a:solidFill>
                <a:srgbClr val="000000"/>
              </a:solidFill>
              <a:latin typeface="Arial"/>
            </a:endParaRPr>
          </a:p>
        </p:txBody>
      </p:sp>
      <p:sp>
        <p:nvSpPr>
          <p:cNvPr id="273" name="PlaceHolder 3"/>
          <p:cNvSpPr>
            <a:spLocks noGrp="1"/>
          </p:cNvSpPr>
          <p:nvPr>
            <p:ph type="sldNum" idx="3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9B3097A-FB2B-4719-BC55-FCFA29EB82A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sldImg"/>
          </p:nvPr>
        </p:nvSpPr>
        <p:spPr>
          <a:xfrm>
            <a:off x="1143000" y="685800"/>
            <a:ext cx="4571640" cy="3428640"/>
          </a:xfrm>
          <a:prstGeom prst="rect">
            <a:avLst/>
          </a:prstGeom>
          <a:ln w="0">
            <a:noFill/>
          </a:ln>
        </p:spPr>
      </p:sp>
      <p:sp>
        <p:nvSpPr>
          <p:cNvPr id="27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200" spc="-1" strike="noStrike">
                <a:solidFill>
                  <a:srgbClr val="000000"/>
                </a:solidFill>
                <a:latin typeface="Calibri"/>
              </a:rPr>
              <a:t>A quick walk through the surface area before we dive into how it got there.</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The original starter code gave us a CLI with a single example analysis. We extended it three ways. First, we added two more CLI analyses — one for label time-to-close, one for issue state breakdown. Both are still callable with run.py --feature 1 and --feature 2 respectively. Second — and this is where the bulk of our work went — we added a Streamlit dashboard as feature 3. It loads the Poetry.json dataset, builds two pandas DataFrames, computes a layer of derived metrics, and exposes seven analysis pages.</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The sidebar filters apply globally — set a date range or filter to a specific contributor, and every page recomputes against that filtered set. That global-filter pattern is one of the things we got right.</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On the screenshot you can see the live dashboard loaded against the full dataset: 6,453 issues, with a filter sidebar on the left and the page navigation. Every number you see in this deck and in the demo is computed live from that JSON.</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Finally — and this matters for the testing section — we wrote about a thousand lines of unit tests covering the data loader, the metrics layer, and every one of the seven pages.</a:t>
            </a:r>
            <a:endParaRPr b="0" lang="en-US" sz="1200" spc="-1" strike="noStrike">
              <a:solidFill>
                <a:srgbClr val="000000"/>
              </a:solidFill>
              <a:latin typeface="Arial"/>
            </a:endParaRPr>
          </a:p>
        </p:txBody>
      </p:sp>
      <p:sp>
        <p:nvSpPr>
          <p:cNvPr id="276" name="PlaceHolder 3"/>
          <p:cNvSpPr>
            <a:spLocks noGrp="1"/>
          </p:cNvSpPr>
          <p:nvPr>
            <p:ph type="sldNum" idx="3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EC8B2F6-9BB5-4AF6-A651-03DD08E5772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sldImg"/>
          </p:nvPr>
        </p:nvSpPr>
        <p:spPr>
          <a:xfrm>
            <a:off x="1143000" y="685800"/>
            <a:ext cx="4571640" cy="3428640"/>
          </a:xfrm>
          <a:prstGeom prst="rect">
            <a:avLst/>
          </a:prstGeom>
          <a:ln w="0">
            <a:noFill/>
          </a:ln>
        </p:spPr>
      </p:sp>
      <p:sp>
        <p:nvSpPr>
          <p:cNvPr id="27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200" spc="-1" strike="noStrike">
                <a:solidFill>
                  <a:srgbClr val="000000"/>
                </a:solidFill>
                <a:latin typeface="Calibri"/>
              </a:rPr>
              <a:t>For Milestone 1 we submitted a class diagram and an ERD covering the seed CLI application — and that's where the original design ended.</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The ERD treated the data as four entities: Issue, Event, User, Label. Issues have many events, users create issues and author events, and labels attach to issues many-to-many. The class diagram covered the runtime classes that ship with the seed: DataLoader, config, the Issue and Event models, and three analyses — ExampleAnalysis, LabelsAnalysis, and the IssuePull GraphQL helper. run.py was the wiring that mapped a --feature flag to the right analysis.</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What we deliberately did NOT design was a dashboard, a DataFrame layer, any derived metrics like staleness or time-to-first-response, or a testing strategy. Milestone 1 was a design submission, so testing was out of scope at that point. But in hindsight that omission shaped some of what we missed.</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The diagrams from milestone 1 are committed in /diagrams as the original artifacts and are the baseline we'll compare against on the next slide.</a:t>
            </a:r>
            <a:endParaRPr b="0" lang="en-US" sz="1200" spc="-1" strike="noStrike">
              <a:solidFill>
                <a:srgbClr val="000000"/>
              </a:solidFill>
              <a:latin typeface="Arial"/>
            </a:endParaRPr>
          </a:p>
        </p:txBody>
      </p:sp>
      <p:sp>
        <p:nvSpPr>
          <p:cNvPr id="279" name="PlaceHolder 3"/>
          <p:cNvSpPr>
            <a:spLocks noGrp="1"/>
          </p:cNvSpPr>
          <p:nvPr>
            <p:ph type="sldNum" idx="3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E3289BE-98D5-4ED5-AC6F-F86571332EC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sldImg"/>
          </p:nvPr>
        </p:nvSpPr>
        <p:spPr>
          <a:xfrm>
            <a:off x="1143000" y="685800"/>
            <a:ext cx="4571640" cy="3428640"/>
          </a:xfrm>
          <a:prstGeom prst="rect">
            <a:avLst/>
          </a:prstGeom>
          <a:ln w="0">
            <a:noFill/>
          </a:ln>
        </p:spPr>
      </p:sp>
      <p:sp>
        <p:nvSpPr>
          <p:cNvPr id="28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200" spc="-1" strike="noStrike">
                <a:solidFill>
                  <a:srgbClr val="000000"/>
                </a:solidFill>
                <a:latin typeface="Calibri"/>
              </a:rPr>
              <a:t>Three categories cover almost everything the final design added on top of the original.</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First — a new subsystem. The entire dashboard module didn't exist in the milestone-1 design. That's the Streamlit app, seven page modules, the sidebar-filter module, the metrics layer with six aggregation functions, and the cached data loader. The original ERD doesn't capture any of this.</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Second — a new data shape. The original design represented data as an object graph: Issue holds a list of Event, and analyses traverse those objects. That's still how the CLI features work. But the dashboard needed a different shape. groupby, value_counts, period-resampling, percentage-of-total — all of those are dramatically more efficient on pandas DataFrames than on a list of objects. So we built a parallel DataFrame layer with build_issues_dataframe, build_events_dataframe, and add_computed_columns. The two shapes coexist: traversal-style for the CLI, aggregation-style for the dashboard.</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Third — entirely new concepts that emerged once we started thinking visually. Staleness buckets — Active under 30 days, Aging under 90, Stale under a year, Zombie beyond a year — none of those existed in the original ERD. Time-to-first-response, time-to-first-label, label co-occurrence pairs, label growth rate, new-vs-returning contributors, reopen rate. All of those are derived signals we invented while we were building, not while we were designing.</a:t>
            </a:r>
            <a:endParaRPr b="0" lang="en-US" sz="1200" spc="-1" strike="noStrike">
              <a:solidFill>
                <a:srgbClr val="000000"/>
              </a:solidFill>
              <a:latin typeface="Arial"/>
            </a:endParaRPr>
          </a:p>
        </p:txBody>
      </p:sp>
      <p:sp>
        <p:nvSpPr>
          <p:cNvPr id="282" name="PlaceHolder 3"/>
          <p:cNvSpPr>
            <a:spLocks noGrp="1"/>
          </p:cNvSpPr>
          <p:nvPr>
            <p:ph type="sldNum" idx="4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25F305F-E3CC-43A3-BD46-B03C0561935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PlaceHolder 1"/>
          <p:cNvSpPr>
            <a:spLocks noGrp="1"/>
          </p:cNvSpPr>
          <p:nvPr>
            <p:ph type="sldImg"/>
          </p:nvPr>
        </p:nvSpPr>
        <p:spPr>
          <a:xfrm>
            <a:off x="1143000" y="685800"/>
            <a:ext cx="4571640" cy="3428640"/>
          </a:xfrm>
          <a:prstGeom prst="rect">
            <a:avLst/>
          </a:prstGeom>
          <a:ln w="0">
            <a:noFill/>
          </a:ln>
        </p:spPr>
      </p:sp>
      <p:sp>
        <p:nvSpPr>
          <p:cNvPr id="28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200" spc="-1" strike="noStrike">
                <a:solidFill>
                  <a:srgbClr val="000000"/>
                </a:solidFill>
                <a:latin typeface="Calibri"/>
              </a:rPr>
              <a:t>The course prompt explicitly asks why we didn't foresee these things in the initial design. Three honest answers.</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First — design ceremony stopped at the data model. Milestone 1 asked for entity relationships and a class diagram, and we delivered exactly that. We never asked the next question, which is "what would a user actually want to see?" If we'd done even a rough wireframe of a dashboard page in milestone 1, the need for a Streamlit module and a metrics layer would have been obvious. The lesson: a data-model diagram is necessary but not sufficient. One sketch would have moved us forward weeks.</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Second — we picked the wrong data shape for visualization. The object model we designed is great for traversal: "give me every event on this issue." But almost every question a dashboard asks is an aggregation: "what fraction of issues are stale, grouped by month, filtered to bug labels?" Those questions are dramatically easier on a DataFrame. We didn't see that until we started prototyping the first page. The lesson is generalizable: the right data structure is determined by the access pattern, not by the source format.</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Third — most of our derived metrics came from staring at real data and asking "so what?" Staleness buckets, label-growth percentages, the bug-to-feature ratio — none of them are visible in the JSON schema. They're decisions you make once you can see the shape of the answer. The lesson: meaningful KPIs are an output of the build process, not a precondition for it.</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So if we did this again, milestone 1 would include at least one dashboard sketch and one column-spec for the aggregated data shape. That would have shifted maybe 60% of the design surprise into the design phase where it belongs.</a:t>
            </a:r>
            <a:endParaRPr b="0" lang="en-US" sz="1200" spc="-1" strike="noStrike">
              <a:solidFill>
                <a:srgbClr val="000000"/>
              </a:solidFill>
              <a:latin typeface="Arial"/>
            </a:endParaRPr>
          </a:p>
        </p:txBody>
      </p:sp>
      <p:sp>
        <p:nvSpPr>
          <p:cNvPr id="285" name="PlaceHolder 3"/>
          <p:cNvSpPr>
            <a:spLocks noGrp="1"/>
          </p:cNvSpPr>
          <p:nvPr>
            <p:ph type="sldNum" idx="4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D95855F-39EA-45BE-A2F1-30D494A7115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sldImg"/>
          </p:nvPr>
        </p:nvSpPr>
        <p:spPr>
          <a:xfrm>
            <a:off x="1143000" y="685800"/>
            <a:ext cx="4571640" cy="3428640"/>
          </a:xfrm>
          <a:prstGeom prst="rect">
            <a:avLst/>
          </a:prstGeom>
          <a:ln w="0">
            <a:noFill/>
          </a:ln>
        </p:spPr>
      </p:sp>
      <p:sp>
        <p:nvSpPr>
          <p:cNvPr id="28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200" spc="-1" strike="noStrike">
                <a:solidFill>
                  <a:srgbClr val="000000"/>
                </a:solidFill>
                <a:latin typeface="Calibri"/>
              </a:rPr>
              <a:t>The course prompt asks whether we drove testing by trial and error or by something more deliberate. We can answer that one cleanly — it was deliberate.</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We organized testing by layer. The bottom layer is the data loader: three pure functions that turn raw JSON into the issues and events DataFrames and then add the derived columns. We test those against a handcrafted small JSON document where we know what every output should be — for example, an issue created on Jan 1 and closed on Jan 10 should produce days_to_close = 9.</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The middle layer is metrics: six aggregation functions over those DataFrames. They're all pure, so testing is straightforward — feed in a fixture, assert on the dict that comes back. The top layer is the seven page modules, and that's where the interesting trick is.</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Streamlit pages aren't normal Python modules. They expect to run inside a Streamlit server with a session and a websocket. To test them as units, we built a mock Streamlit module — a MagicMock with hand-written side effects for things like st.columns and st.stop. We inject that mock into sys.modules, then load each page with runpy. The page runs, and we can assert on what it tried to render: which metrics, which chart counts, whether it took the guard path when session_state is empty.</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The fixtures are not random. Each one targets a specific branch we needed to cover. open_only_issues forces every days_to_close to NaN — that exposes the divide-by-zero and the if-truthy bugs we'll talk about on the next slide. staleness_issues has exactly one row in each of the four staleness buckets, so we can assert that staleness_metrics counts each correctly. empty_events guarantees every page survives a contributor filter that wipes out the events. The fixtures ARE the test plan.</a:t>
            </a:r>
            <a:endParaRPr b="0" lang="en-US" sz="1200" spc="-1" strike="noStrike">
              <a:solidFill>
                <a:srgbClr val="000000"/>
              </a:solidFill>
              <a:latin typeface="Arial"/>
            </a:endParaRPr>
          </a:p>
        </p:txBody>
      </p:sp>
      <p:sp>
        <p:nvSpPr>
          <p:cNvPr id="288" name="PlaceHolder 3"/>
          <p:cNvSpPr>
            <a:spLocks noGrp="1"/>
          </p:cNvSpPr>
          <p:nvPr>
            <p:ph type="sldNum" idx="4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EBA7BAF4-EA23-4D5A-A2EA-27EE20EB8A5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PlaceHolder 1"/>
          <p:cNvSpPr>
            <a:spLocks noGrp="1"/>
          </p:cNvSpPr>
          <p:nvPr>
            <p:ph type="sldImg"/>
          </p:nvPr>
        </p:nvSpPr>
        <p:spPr>
          <a:xfrm>
            <a:off x="1143000" y="685800"/>
            <a:ext cx="4571640" cy="3428640"/>
          </a:xfrm>
          <a:prstGeom prst="rect">
            <a:avLst/>
          </a:prstGeom>
          <a:ln w="0">
            <a:noFill/>
          </a:ln>
        </p:spPr>
      </p:sp>
      <p:sp>
        <p:nvSpPr>
          <p:cNvPr id="29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200" spc="-1" strike="noStrike">
                <a:solidFill>
                  <a:srgbClr val="000000"/>
                </a:solidFill>
                <a:latin typeface="Calibri"/>
              </a:rPr>
              <a:t>Three real bugs we caught — and we'll demo the first one live in a couple of slides.</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Bug one is the falsy-zero N/A bug. On the Triage Health page, the metric card for Median First Response shows N/A — even though the histogram right below it shows over five thousand issues responding in under an hour. The cause is a one-character mistake in the page code: `if result['median_first_response_days']` checks truthiness, not nullness. The actual median is around 0.04 days — about an hour — and round(0.04, 1) is 0.0. The number 0.0 is falsy in Python, so the branch falls through to the literal string "N/A". The metric is correct in the data layer; the page is just hiding it. Fix is one word: change `if result[...]` to `if pd.notna(result[...])`.</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Bug two is in LabelsAnalysis, the original CLI module from milestone 1. The intent of the code is "average time to close, per label." But the implementation divides each label's total accumulated close-time by the total number of closed issues across the whole dataset, not by the count of closed issues that actually had that label. So if 1,000 issues close and 100 of them are labeled kind/bug, the kind/bug average is divided by 1,000 instead of by 100. Every per-label number is silently scaled by the same wrong factor. The relative ranking is preserved, which is why nobody noticed during code review — but the absolute numbers are off by an order of magnitude.</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Bug three is a class of bugs more than a single one — pages call df_events.groupby on an empty DataFrame. As long as the dataset has events that survives default filters, you don't see it. But applying a contributor filter that has no events triggers a crash on the heatmap. We caught it via the empty_events fixture. The metrics layer guards for this; not all pages do yet.</a:t>
            </a:r>
            <a:endParaRPr b="0" lang="en-US" sz="1200" spc="-1" strike="noStrike">
              <a:solidFill>
                <a:srgbClr val="000000"/>
              </a:solidFill>
              <a:latin typeface="Arial"/>
            </a:endParaRPr>
          </a:p>
        </p:txBody>
      </p:sp>
      <p:sp>
        <p:nvSpPr>
          <p:cNvPr id="291" name="PlaceHolder 3"/>
          <p:cNvSpPr>
            <a:spLocks noGrp="1"/>
          </p:cNvSpPr>
          <p:nvPr>
            <p:ph type="sldNum" idx="4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45F87A6-2316-47EE-8E40-D532CF40519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sldImg"/>
          </p:nvPr>
        </p:nvSpPr>
        <p:spPr>
          <a:xfrm>
            <a:off x="1143000" y="685800"/>
            <a:ext cx="4571640" cy="3428640"/>
          </a:xfrm>
          <a:prstGeom prst="rect">
            <a:avLst/>
          </a:prstGeom>
          <a:ln w="0">
            <a:noFill/>
          </a:ln>
        </p:spPr>
      </p:sp>
      <p:sp>
        <p:nvSpPr>
          <p:cNvPr id="29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200" spc="-1" strike="noStrike">
                <a:solidFill>
                  <a:srgbClr val="000000"/>
                </a:solidFill>
                <a:latin typeface="Calibri"/>
              </a:rPr>
              <a:t>We're now at the demo portion of the presentation — about five minutes left. Here's the question we're answering.</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Is the Poetry project healthy? "Healthy" is deliberately vague. To answer it usefully we broke it into three sub-questions, each of which maps to one or two pages in the dashboard.</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First — are new issues triaged quickly? When somebody opens an issue, how long until a maintainer responds? That lives in Triage Health.</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Second — are open issues piling up faster than they close? This is about throughput. The Resolution page shows monthly created versus closed; the Stale Issues page shows what's accumulating in the backlog. Together they tell us whether the team is winning or losing the queue.</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Third — is the project sustainably staffed? A project where one person does ninety percent of the work is a different risk profile from a project with a wide active contributor base. The Contributors page tells us that, and Trends gives us the bug-to-feature ratio over time as a complementary signal.</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We chose this framing on purpose because no single page answers "is it healthy?" The dashboard is multi-page specifically so we can compose pages to answer composite questions. The next three slides are screenshot backups for each sub-question — but we're going to walk the live dashboard for the actual demo.</a:t>
            </a:r>
            <a:endParaRPr b="0" lang="en-US" sz="1200" spc="-1" strike="noStrike">
              <a:solidFill>
                <a:srgbClr val="000000"/>
              </a:solidFill>
              <a:latin typeface="Arial"/>
            </a:endParaRPr>
          </a:p>
        </p:txBody>
      </p:sp>
      <p:sp>
        <p:nvSpPr>
          <p:cNvPr id="294" name="PlaceHolder 3"/>
          <p:cNvSpPr>
            <a:spLocks noGrp="1"/>
          </p:cNvSpPr>
          <p:nvPr>
            <p:ph type="sldNum" idx="4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DCF7B01-2F61-47E3-8F23-55DBAC0F141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sldImg"/>
          </p:nvPr>
        </p:nvSpPr>
        <p:spPr>
          <a:xfrm>
            <a:off x="1143000" y="685800"/>
            <a:ext cx="4571640" cy="3428640"/>
          </a:xfrm>
          <a:prstGeom prst="rect">
            <a:avLst/>
          </a:prstGeom>
          <a:ln w="0">
            <a:noFill/>
          </a:ln>
        </p:spPr>
      </p:sp>
      <p:sp>
        <p:nvSpPr>
          <p:cNvPr id="29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200" spc="-1" strike="noStrike">
                <a:solidFill>
                  <a:srgbClr val="000000"/>
                </a:solidFill>
                <a:latin typeface="Calibri"/>
              </a:rPr>
              <a:t>First sub-question — are new issues triaged quickly?</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Walk the audience through this page live. The headline takeaway: the front door is fast. Over five thousand issues get a first response in under an hour. The histogram is heavily concentrated in the first two green bars. The long tail of week-plus and month-plus responses exists, but it's a small fraction of the total.</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Where the page tells a more nuanced story is the unlabeled count — over a thousand issues never received a label. That's not a triage failure, but it does mean a meaningful chunk of issues never enter the categorization pipeline downstream pages depend on.</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This is also the page where we'll point out the falsy-zero N/A bug live. The KPI card shows "Median First Response: N/A" while the histogram below shows thousands of fast responses. That's the bug from slide 7 — the median is around an hour, rounds to 0.0, and the page treats 0.0 as "no data."</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The brief 2019 spike in monthly triage performance is worth acknowledging too — historical context for what was probably a maintainer transition.</a:t>
            </a:r>
            <a:endParaRPr b="0" lang="en-US" sz="1200" spc="-1" strike="noStrike">
              <a:solidFill>
                <a:srgbClr val="000000"/>
              </a:solidFill>
              <a:latin typeface="Arial"/>
            </a:endParaRPr>
          </a:p>
        </p:txBody>
      </p:sp>
      <p:sp>
        <p:nvSpPr>
          <p:cNvPr id="297" name="PlaceHolder 3"/>
          <p:cNvSpPr>
            <a:spLocks noGrp="1"/>
          </p:cNvSpPr>
          <p:nvPr>
            <p:ph type="sldNum" idx="4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4E69787-0B2B-4B88-B191-7B569249675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PlaceHolder 1"/>
          <p:cNvSpPr>
            <a:spLocks noGrp="1"/>
          </p:cNvSpPr>
          <p:nvPr>
            <p:ph type="sldImg"/>
          </p:nvPr>
        </p:nvSpPr>
        <p:spPr>
          <a:xfrm>
            <a:off x="1143000" y="685800"/>
            <a:ext cx="4571640" cy="3428640"/>
          </a:xfrm>
          <a:prstGeom prst="rect">
            <a:avLst/>
          </a:prstGeom>
          <a:ln w="0">
            <a:noFill/>
          </a:ln>
        </p:spPr>
      </p:sp>
      <p:sp>
        <p:nvSpPr>
          <p:cNvPr id="29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200" spc="-1" strike="noStrike">
                <a:solidFill>
                  <a:srgbClr val="000000"/>
                </a:solidFill>
                <a:latin typeface="Calibri"/>
              </a:rPr>
              <a:t>Second sub-question — are issues piling up faster than they close? Two pages together answer this.</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Start on Resolution. The headline number is the median days-to-close: 890 days. That's about two and a half years for the median issue to close. The time-to-close histogram on the left makes that vivid — the &gt;1yr bucket dwarfs everything else, with thousands of issues. The monthly created-versus-closed chart on the right tracks both lines roughly together for most of the project's life, but creation has a slight edge — which is why the backlog grows.</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Reopen rate is low — 2.3% — which is reassuring. The most-reopened issue at the bottom is #3366, "git install doesn't recognize new main default branch," reopened three times. That's a real story you could click into during the live demo.</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Now switch to Stale Issues. The bucket distribution chart is the punchline. Of the 532 currently open issues, 69.7% are zombies — over a year since any activity — 19% are stale, 11% are aging, and zero are active. That zero-active number is striking and worth pausing on. It can mean two things: either the open backlog is genuinely all old issues, or the dataset itself is a snapshot more than 30 days old. Either reading is interesting.</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Together: the project closes issues, but slowly, and the open backlog is dominated by long-dormant issues. The team isn't drowning — but the backlog is heavy with cold cases.</a:t>
            </a:r>
            <a:endParaRPr b="0" lang="en-US" sz="1200" spc="-1" strike="noStrike">
              <a:solidFill>
                <a:srgbClr val="000000"/>
              </a:solidFill>
              <a:latin typeface="Arial"/>
            </a:endParaRPr>
          </a:p>
        </p:txBody>
      </p:sp>
      <p:sp>
        <p:nvSpPr>
          <p:cNvPr id="300" name="PlaceHolder 3"/>
          <p:cNvSpPr>
            <a:spLocks noGrp="1"/>
          </p:cNvSpPr>
          <p:nvPr>
            <p:ph type="sldNum" idx="4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105C500-E7A6-46EC-A367-1E36E865CA6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PlaceHolder 1"/>
          <p:cNvSpPr>
            <a:spLocks noGrp="1"/>
          </p:cNvSpPr>
          <p:nvPr>
            <p:ph type="sldImg"/>
          </p:nvPr>
        </p:nvSpPr>
        <p:spPr>
          <a:xfrm>
            <a:off x="1143000" y="685800"/>
            <a:ext cx="4571640" cy="3428640"/>
          </a:xfrm>
          <a:prstGeom prst="rect">
            <a:avLst/>
          </a:prstGeom>
          <a:ln w="0">
            <a:noFill/>
          </a:ln>
        </p:spPr>
      </p:sp>
      <p:sp>
        <p:nvSpPr>
          <p:cNvPr id="30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200" spc="-1" strike="noStrike">
                <a:solidFill>
                  <a:srgbClr val="000000"/>
                </a:solidFill>
                <a:latin typeface="Calibri"/>
              </a:rPr>
              <a:t>Third sub-question — is the project sustainably staffed?</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Start on Contributors. Lifetime, the project has nearly 10,000 contributors. In the last 90 days, 72 are active. That sounds healthy until you look at the top-contributors table: github-actions is on top with over 5,000 events, but that's a bot. The real top human is dimbleby with 4,400 events and 17 issues created — followed by finswimmer, neersighted, abn, sdispater. The activity heatmap on the bottom shows that handful of users carrying the bulk of recent activity. dimbleby and radoering are the two consistently dark rows.</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This is a "high-truck-factor risk" pattern. A lot of total contributors, a thin layer doing most of the day-to-day work. If dimbleby walked away tomorrow, the project's recent throughput would noticeably drop.</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Switch to Trends. The bug-to-feature ratio is 3.24 — three bug reports for every feature request. That's not unusual for a mature dependency-management tool, but it does mean the maintenance load is heavier than the new-development load. The monthly trend chart shows bugs (red) consistently above features (purple) since 2019, with bugs peaking around 2020-2022 and gradually declining. The recent decline could be a good sign — software stabilizing — or a warning sign — fewer reporters because fewer users.</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So combining all three sub-questions: the front door is fast, the queue is slow but not catastrophic, and a small group of humans plus heavy automation are keeping the project running. That is the answer to "is Poetry healthy?" — qualified yes, with a thin maintainer layer as the main risk.</a:t>
            </a:r>
            <a:endParaRPr b="0" lang="en-US" sz="1200" spc="-1" strike="noStrike">
              <a:solidFill>
                <a:srgbClr val="000000"/>
              </a:solidFill>
              <a:latin typeface="Arial"/>
            </a:endParaRPr>
          </a:p>
        </p:txBody>
      </p:sp>
      <p:sp>
        <p:nvSpPr>
          <p:cNvPr id="303" name="PlaceHolder 3"/>
          <p:cNvSpPr>
            <a:spLocks noGrp="1"/>
          </p:cNvSpPr>
          <p:nvPr>
            <p:ph type="sldNum" idx="4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D0B8D0E-92C4-4009-887B-4940C21B0CB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PlaceHolder 1"/>
          <p:cNvSpPr>
            <a:spLocks noGrp="1"/>
          </p:cNvSpPr>
          <p:nvPr>
            <p:ph type="sldImg"/>
          </p:nvPr>
        </p:nvSpPr>
        <p:spPr>
          <a:xfrm>
            <a:off x="1143000" y="685800"/>
            <a:ext cx="4571640" cy="3428640"/>
          </a:xfrm>
          <a:prstGeom prst="rect">
            <a:avLst/>
          </a:prstGeom>
          <a:ln w="0">
            <a:noFill/>
          </a:ln>
        </p:spPr>
      </p:sp>
      <p:sp>
        <p:nvSpPr>
          <p:cNvPr id="30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1200" spc="-1" strike="noStrike">
                <a:solidFill>
                  <a:srgbClr val="000000"/>
                </a:solidFill>
                <a:latin typeface="Calibri"/>
              </a:rPr>
              <a:t>Wrapping up.</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Three things the data told us about Poetry. One: triage is fast at the front door — most issues get a response within an hour — but a meaningful slice never get labeled, which means they never enter downstream categorization. Two: the backlog is skewed old. Median time to close is around two and a half years; seventy percent of currently open issues are zombies. The team isn't drowning, but the queue is heavy with cold cases. Three: recent activity is carried by a handful of humans plus a bot. The truck factor is the headline risk for project sustainability.</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Three things the project taught us. One — design the access pattern, not just the data model. We designed an object model in milestone 1 because the schema fit it. We rebuilt as a DataFrame layer once we realized the questions were aggregations. The lesson generalizes: the right data shape comes from the questions, not the source format. Two — mock the framework, not the function. We tested Streamlit pages by injecting a MagicMock as the streamlit module and loading the page with runpy. That sounds hacky, but it gave us fast deterministic tests for code that normally requires a browser. Three — build the smallest dashboard you can defend, then let the data tell you which metrics matter. Almost every metric on the final dashboard came from staring at outputs and asking "so what?" Designing those metrics up front would have produced a worse dashboard.</a:t>
            </a:r>
            <a:endParaRPr b="0" lang="en-US" sz="1200" spc="-1" strike="noStrike">
              <a:solidFill>
                <a:srgbClr val="000000"/>
              </a:solidFill>
              <a:latin typeface="Arial"/>
            </a:endParaRPr>
          </a:p>
          <a:p>
            <a:pPr marL="216000" indent="0">
              <a:lnSpc>
                <a:spcPct val="100000"/>
              </a:lnSpc>
              <a:buNone/>
            </a:pPr>
            <a:r>
              <a:rPr b="0" lang="en-US" sz="1200" spc="-1" strike="noStrike">
                <a:solidFill>
                  <a:srgbClr val="000000"/>
                </a:solidFill>
                <a:latin typeface="Calibri"/>
              </a:rPr>
              <a:t>We're going to stop here and take questions. The repo is under shivshahh/enpm611-project. The dashboard runs with python run.py --feature 3, and the test suite is pytest tests. Thank you.</a:t>
            </a:r>
            <a:endParaRPr b="0" lang="en-US" sz="1200" spc="-1" strike="noStrike">
              <a:solidFill>
                <a:srgbClr val="000000"/>
              </a:solidFill>
              <a:latin typeface="Arial"/>
            </a:endParaRPr>
          </a:p>
        </p:txBody>
      </p:sp>
      <p:sp>
        <p:nvSpPr>
          <p:cNvPr id="306" name="PlaceHolder 3"/>
          <p:cNvSpPr>
            <a:spLocks noGrp="1"/>
          </p:cNvSpPr>
          <p:nvPr>
            <p:ph type="sldNum" idx="4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F63386B-BCDD-449B-8178-0DE5512D70F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07CB92B5-1BC6-4FF6-892E-95775DDAE825}"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73C23377-755E-4296-95C3-FB4C7F66602F}"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3394BF6C-C0FB-4EC3-B4ED-72D910BA2C3C}"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2"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A90345A9-43C9-4678-9BB0-ADF0CC1C106E}"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A6110AD1-F65A-45C5-B8D8-EE6B0F71A0BA}"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A411F520-626B-4D47-9A8A-22EF586F7456}"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13679D15-0A72-4D0E-99FA-CFB4AF8C8A4D}"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6A21A2EE-136A-4FB9-A3B6-B51F6D01A322}"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90A2939A-313B-486B-B9B6-8E561ECFF001}"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746C2557-9705-419C-8A24-1EDDE1E380D7}"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FB4C6406-99A1-40DA-93EB-4BEB4E0817B1}"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 </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0C400BE0-AEDD-44C2-9676-0A3AD745CA29}" type="slidenum">
              <a:rPr b="0" lang="en-US" sz="1200" spc="-1" strike="noStrike">
                <a:solidFill>
                  <a:schemeClr val="dk1">
                    <a:tint val="75000"/>
                  </a:schemeClr>
                </a:solidFill>
                <a:latin typeface="Calibri"/>
              </a:rPr>
              <a:t>11</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C10ED593-2FBC-4BE9-BB22-927027F1452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rIns="91440" tIns="45720" bIns="45720" anchor="ctr" vert="eaVert">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93223396-191D-4028-AE82-4A1FE6270C6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E5A45280-61E3-4767-82AF-9A2F31BF6A0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722160" y="4406760"/>
            <a:ext cx="7772040" cy="1361880"/>
          </a:xfrm>
          <a:prstGeom prst="rect">
            <a:avLst/>
          </a:prstGeom>
          <a:noFill/>
          <a:ln w="0">
            <a:noFill/>
          </a:ln>
        </p:spPr>
        <p:txBody>
          <a:bodyPr lIns="91440" rIns="91440" tIns="45720" bIns="45720" anchor="t">
            <a:noAutofit/>
          </a:bodyPr>
          <a:p>
            <a:pPr indent="0" defTabSz="457200">
              <a:lnSpc>
                <a:spcPct val="100000"/>
              </a:lnSpc>
              <a:buNone/>
            </a:pPr>
            <a:r>
              <a:rPr b="1" lang="en-US" sz="4000" spc="-1" strike="noStrike" cap="all">
                <a:solidFill>
                  <a:schemeClr val="dk1"/>
                </a:solidFill>
                <a:latin typeface="Calibri"/>
              </a:rPr>
              <a:t>Click to edit Master title style</a:t>
            </a:r>
            <a:endParaRPr b="0" lang="en-US" sz="4000" spc="-1" strike="noStrike">
              <a:solidFill>
                <a:schemeClr val="dk1"/>
              </a:solidFill>
              <a:latin typeface="Calibri"/>
            </a:endParaRPr>
          </a:p>
        </p:txBody>
      </p:sp>
      <p:sp>
        <p:nvSpPr>
          <p:cNvPr id="24" name="PlaceHolder 2"/>
          <p:cNvSpPr>
            <a:spLocks noGrp="1"/>
          </p:cNvSpPr>
          <p:nvPr>
            <p:ph type="body"/>
          </p:nvPr>
        </p:nvSpPr>
        <p:spPr>
          <a:xfrm>
            <a:off x="722160" y="2906640"/>
            <a:ext cx="7772040" cy="149976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pc="-1" strike="noStrike">
                <a:solidFill>
                  <a:schemeClr val="dk1">
                    <a:tint val="75000"/>
                  </a:schemeClr>
                </a:solidFill>
                <a:latin typeface="Calibri"/>
              </a:rPr>
              <a:t>Click to edit Master text styles</a:t>
            </a:r>
            <a:endParaRPr b="0" lang="en-US" sz="2000" spc="-1" strike="noStrike">
              <a:solidFill>
                <a:schemeClr val="dk1"/>
              </a:solidFill>
              <a:latin typeface="Calibri"/>
            </a:endParaRPr>
          </a:p>
        </p:txBody>
      </p:sp>
      <p:sp>
        <p:nvSpPr>
          <p:cNvPr id="25" name="PlaceHolder 3"/>
          <p:cNvSpPr>
            <a:spLocks noGrp="1"/>
          </p:cNvSpPr>
          <p:nvPr>
            <p:ph type="dt" idx="13"/>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6" name="PlaceHolder 4"/>
          <p:cNvSpPr>
            <a:spLocks noGrp="1"/>
          </p:cNvSpPr>
          <p:nvPr>
            <p:ph type="ftr" idx="14"/>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5"/>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CFAB17FE-8AE1-4408-B19C-9C2621FB4D6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29" name="PlaceHolder 2"/>
          <p:cNvSpPr>
            <a:spLocks noGrp="1"/>
          </p:cNvSpPr>
          <p:nvPr>
            <p:ph type="body"/>
          </p:nvPr>
        </p:nvSpPr>
        <p:spPr>
          <a:xfrm>
            <a:off x="45720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0" name="PlaceHolder 3"/>
          <p:cNvSpPr>
            <a:spLocks noGrp="1"/>
          </p:cNvSpPr>
          <p:nvPr>
            <p:ph type="body"/>
          </p:nvPr>
        </p:nvSpPr>
        <p:spPr>
          <a:xfrm>
            <a:off x="464832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4"/>
          <p:cNvSpPr>
            <a:spLocks noGrp="1"/>
          </p:cNvSpPr>
          <p:nvPr>
            <p:ph type="dt" idx="16"/>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2" name="PlaceHolder 5"/>
          <p:cNvSpPr>
            <a:spLocks noGrp="1"/>
          </p:cNvSpPr>
          <p:nvPr>
            <p:ph type="ftr" idx="17"/>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6"/>
          <p:cNvSpPr>
            <a:spLocks noGrp="1"/>
          </p:cNvSpPr>
          <p:nvPr>
            <p:ph type="sldNum" idx="18"/>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09A5FBA1-9C8A-4540-85C2-7861A4754C3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38" name="PlaceHolder 2"/>
          <p:cNvSpPr>
            <a:spLocks noGrp="1"/>
          </p:cNvSpPr>
          <p:nvPr>
            <p:ph type="body"/>
          </p:nvPr>
        </p:nvSpPr>
        <p:spPr>
          <a:xfrm>
            <a:off x="457200" y="1535040"/>
            <a:ext cx="403992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39" name="PlaceHolder 3"/>
          <p:cNvSpPr>
            <a:spLocks noGrp="1"/>
          </p:cNvSpPr>
          <p:nvPr>
            <p:ph type="body"/>
          </p:nvPr>
        </p:nvSpPr>
        <p:spPr>
          <a:xfrm>
            <a:off x="457200" y="2174760"/>
            <a:ext cx="403992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0" name="PlaceHolder 4"/>
          <p:cNvSpPr>
            <a:spLocks noGrp="1"/>
          </p:cNvSpPr>
          <p:nvPr>
            <p:ph type="body"/>
          </p:nvPr>
        </p:nvSpPr>
        <p:spPr>
          <a:xfrm>
            <a:off x="4645080" y="1535040"/>
            <a:ext cx="404136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1" name="PlaceHolder 5"/>
          <p:cNvSpPr>
            <a:spLocks noGrp="1"/>
          </p:cNvSpPr>
          <p:nvPr>
            <p:ph type="body"/>
          </p:nvPr>
        </p:nvSpPr>
        <p:spPr>
          <a:xfrm>
            <a:off x="4645080" y="2174760"/>
            <a:ext cx="404136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2" name="PlaceHolder 6"/>
          <p:cNvSpPr>
            <a:spLocks noGrp="1"/>
          </p:cNvSpPr>
          <p:nvPr>
            <p:ph type="dt" idx="19"/>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3" name="PlaceHolder 7"/>
          <p:cNvSpPr>
            <a:spLocks noGrp="1"/>
          </p:cNvSpPr>
          <p:nvPr>
            <p:ph type="ftr" idx="20"/>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8"/>
          <p:cNvSpPr>
            <a:spLocks noGrp="1"/>
          </p:cNvSpPr>
          <p:nvPr>
            <p:ph type="sldNum" idx="21"/>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7E5FC74B-AD55-4F7B-BAB7-8E032EFDA82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46" name="PlaceHolder 2"/>
          <p:cNvSpPr>
            <a:spLocks noGrp="1"/>
          </p:cNvSpPr>
          <p:nvPr>
            <p:ph type="dt" idx="22"/>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7" name="PlaceHolder 3"/>
          <p:cNvSpPr>
            <a:spLocks noGrp="1"/>
          </p:cNvSpPr>
          <p:nvPr>
            <p:ph type="ftr" idx="23"/>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4"/>
          <p:cNvSpPr>
            <a:spLocks noGrp="1"/>
          </p:cNvSpPr>
          <p:nvPr>
            <p:ph type="sldNum" idx="24"/>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3B66D7CE-1727-482C-8BDB-E4C0E471991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D6F3325F-DBCA-4CA8-B6E3-102D9C8D012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3" name="PlaceHolder 4"/>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5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2880"/>
            <a:ext cx="3007800" cy="116172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56" name="PlaceHolder 2"/>
          <p:cNvSpPr>
            <a:spLocks noGrp="1"/>
          </p:cNvSpPr>
          <p:nvPr>
            <p:ph type="body"/>
          </p:nvPr>
        </p:nvSpPr>
        <p:spPr>
          <a:xfrm>
            <a:off x="3575160" y="272880"/>
            <a:ext cx="5111280" cy="585288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7" name="PlaceHolder 3"/>
          <p:cNvSpPr>
            <a:spLocks noGrp="1"/>
          </p:cNvSpPr>
          <p:nvPr>
            <p:ph type="body"/>
          </p:nvPr>
        </p:nvSpPr>
        <p:spPr>
          <a:xfrm>
            <a:off x="457200" y="1434960"/>
            <a:ext cx="3007800" cy="46908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58" name="PlaceHolder 4"/>
          <p:cNvSpPr>
            <a:spLocks noGrp="1"/>
          </p:cNvSpPr>
          <p:nvPr>
            <p:ph type="dt" idx="28"/>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9" name="PlaceHolder 5"/>
          <p:cNvSpPr>
            <a:spLocks noGrp="1"/>
          </p:cNvSpPr>
          <p:nvPr>
            <p:ph type="ftr" idx="29"/>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0" name="PlaceHolder 6"/>
          <p:cNvSpPr>
            <a:spLocks noGrp="1"/>
          </p:cNvSpPr>
          <p:nvPr>
            <p:ph type="sldNum" idx="30"/>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DD9250BE-5B8F-4B52-A100-4B7063AD47B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1792440" y="4800600"/>
            <a:ext cx="5486040" cy="56628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62" name="PlaceHolder 2"/>
          <p:cNvSpPr>
            <a:spLocks noGrp="1"/>
          </p:cNvSpPr>
          <p:nvPr>
            <p:ph type="body"/>
          </p:nvPr>
        </p:nvSpPr>
        <p:spPr>
          <a:xfrm>
            <a:off x="1792440" y="612720"/>
            <a:ext cx="5486040" cy="411444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3" name="PlaceHolder 3"/>
          <p:cNvSpPr>
            <a:spLocks noGrp="1"/>
          </p:cNvSpPr>
          <p:nvPr>
            <p:ph type="body"/>
          </p:nvPr>
        </p:nvSpPr>
        <p:spPr>
          <a:xfrm>
            <a:off x="1792440" y="5367240"/>
            <a:ext cx="5486040" cy="8046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64" name="PlaceHolder 4"/>
          <p:cNvSpPr>
            <a:spLocks noGrp="1"/>
          </p:cNvSpPr>
          <p:nvPr>
            <p:ph type="dt" idx="3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5" name="PlaceHolder 5"/>
          <p:cNvSpPr>
            <a:spLocks noGrp="1"/>
          </p:cNvSpPr>
          <p:nvPr>
            <p:ph type="ftr" idx="3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6" name="PlaceHolder 6"/>
          <p:cNvSpPr>
            <a:spLocks noGrp="1"/>
          </p:cNvSpPr>
          <p:nvPr>
            <p:ph type="sldNum" idx="3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BEDE11B1-6B45-4E69-8B32-64E93D6A5AE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9.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9.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9.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Rectangle 1"/>
          <p:cNvSpPr/>
          <p:nvPr/>
        </p:nvSpPr>
        <p:spPr>
          <a:xfrm>
            <a:off x="0" y="0"/>
            <a:ext cx="12191400" cy="6857640"/>
          </a:xfrm>
          <a:prstGeom prst="rect">
            <a:avLst/>
          </a:prstGeom>
          <a:solidFill>
            <a:srgbClr val="0f1f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4" name="Rectangle 2"/>
          <p:cNvSpPr/>
          <p:nvPr/>
        </p:nvSpPr>
        <p:spPr>
          <a:xfrm>
            <a:off x="0" y="3291840"/>
            <a:ext cx="12191400" cy="36360"/>
          </a:xfrm>
          <a:prstGeom prst="rect">
            <a:avLst/>
          </a:prstGeom>
          <a:solidFill>
            <a:srgbClr val="10b98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8280" bIns="-8280" anchor="ctr">
            <a:noAutofit/>
          </a:bodyPr>
          <a:p>
            <a:pPr algn="ctr" defTabSz="457200">
              <a:lnSpc>
                <a:spcPct val="100000"/>
              </a:lnSpc>
            </a:pPr>
            <a:endParaRPr b="0" lang="en-US" sz="1800" spc="-1" strike="noStrike">
              <a:solidFill>
                <a:schemeClr val="lt1"/>
              </a:solidFill>
              <a:latin typeface="Calibri"/>
            </a:endParaRPr>
          </a:p>
        </p:txBody>
      </p:sp>
      <p:sp>
        <p:nvSpPr>
          <p:cNvPr id="75" name="TextBox 3"/>
          <p:cNvSpPr/>
          <p:nvPr/>
        </p:nvSpPr>
        <p:spPr>
          <a:xfrm>
            <a:off x="731520" y="1828800"/>
            <a:ext cx="1069812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400" spc="-1" strike="noStrike">
                <a:solidFill>
                  <a:srgbClr val="cbd5e1"/>
                </a:solidFill>
                <a:latin typeface="Calibri"/>
              </a:rPr>
              <a:t>ENPM611 — Software Engineering   |   Final Project Presentation</a:t>
            </a:r>
            <a:endParaRPr b="0" lang="en-US" sz="1400" spc="-1" strike="noStrike">
              <a:solidFill>
                <a:srgbClr val="000000"/>
              </a:solidFill>
              <a:latin typeface="Arial"/>
            </a:endParaRPr>
          </a:p>
        </p:txBody>
      </p:sp>
      <p:sp>
        <p:nvSpPr>
          <p:cNvPr id="76" name="TextBox 4"/>
          <p:cNvSpPr/>
          <p:nvPr/>
        </p:nvSpPr>
        <p:spPr>
          <a:xfrm>
            <a:off x="731520" y="2331720"/>
            <a:ext cx="10698120" cy="8233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400" spc="-1" strike="noStrike">
                <a:solidFill>
                  <a:srgbClr val="ffffff"/>
                </a:solidFill>
                <a:latin typeface="Calibri"/>
              </a:rPr>
              <a:t>Poetry Issues Analytics</a:t>
            </a:r>
            <a:endParaRPr b="0" lang="en-US" sz="5400" spc="-1" strike="noStrike">
              <a:solidFill>
                <a:srgbClr val="000000"/>
              </a:solidFill>
              <a:latin typeface="Arial"/>
            </a:endParaRPr>
          </a:p>
        </p:txBody>
      </p:sp>
      <p:sp>
        <p:nvSpPr>
          <p:cNvPr id="77" name="TextBox 5"/>
          <p:cNvSpPr/>
          <p:nvPr/>
        </p:nvSpPr>
        <p:spPr>
          <a:xfrm>
            <a:off x="731520" y="3383280"/>
            <a:ext cx="10698120" cy="3052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2000" spc="-1" strike="noStrike">
                <a:solidFill>
                  <a:srgbClr val="cbd5e1"/>
                </a:solidFill>
                <a:latin typeface="Calibri"/>
              </a:rPr>
              <a:t>An interactive dashboard for the python-poetry/poetry GitHub project</a:t>
            </a:r>
            <a:endParaRPr b="0" lang="en-US" sz="2000" spc="-1" strike="noStrike">
              <a:solidFill>
                <a:srgbClr val="000000"/>
              </a:solidFill>
              <a:latin typeface="Arial"/>
            </a:endParaRPr>
          </a:p>
        </p:txBody>
      </p:sp>
      <p:sp>
        <p:nvSpPr>
          <p:cNvPr id="78" name="TextBox 6"/>
          <p:cNvSpPr/>
          <p:nvPr/>
        </p:nvSpPr>
        <p:spPr>
          <a:xfrm>
            <a:off x="731520" y="4937760"/>
            <a:ext cx="1069812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0b981"/>
                </a:solidFill>
                <a:latin typeface="Calibri"/>
              </a:rPr>
              <a:t>Team</a:t>
            </a:r>
            <a:endParaRPr b="0" lang="en-US" sz="1200" spc="-1" strike="noStrike">
              <a:solidFill>
                <a:srgbClr val="000000"/>
              </a:solidFill>
              <a:latin typeface="Arial"/>
            </a:endParaRPr>
          </a:p>
        </p:txBody>
      </p:sp>
      <p:sp>
        <p:nvSpPr>
          <p:cNvPr id="79" name="TextBox 7"/>
          <p:cNvSpPr/>
          <p:nvPr/>
        </p:nvSpPr>
        <p:spPr>
          <a:xfrm>
            <a:off x="731520" y="5257800"/>
            <a:ext cx="10698120" cy="3052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2000" spc="-1" strike="noStrike">
                <a:solidFill>
                  <a:srgbClr val="ffffff"/>
                </a:solidFill>
                <a:latin typeface="Calibri"/>
              </a:rPr>
              <a:t>Chris Collins   ·   Michael Hunt   ·   Shiv Shah</a:t>
            </a:r>
            <a:endParaRPr b="0" lang="en-US" sz="2000" spc="-1" strike="noStrike">
              <a:solidFill>
                <a:srgbClr val="000000"/>
              </a:solidFill>
              <a:latin typeface="Arial"/>
            </a:endParaRPr>
          </a:p>
        </p:txBody>
      </p:sp>
      <p:sp>
        <p:nvSpPr>
          <p:cNvPr id="80" name="TextBox 8"/>
          <p:cNvSpPr/>
          <p:nvPr/>
        </p:nvSpPr>
        <p:spPr>
          <a:xfrm>
            <a:off x="731520" y="5943600"/>
            <a:ext cx="1069812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00" spc="-1" strike="noStrike">
                <a:solidFill>
                  <a:srgbClr val="94a3b8"/>
                </a:solidFill>
                <a:latin typeface="Calibri"/>
              </a:rPr>
              <a:t>15-minute presentation: 10 min talk + 5 min live demo</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Rectangle 1"/>
          <p:cNvSpPr/>
          <p:nvPr/>
        </p:nvSpPr>
        <p:spPr>
          <a:xfrm>
            <a:off x="0" y="0"/>
            <a:ext cx="12191400" cy="502560"/>
          </a:xfrm>
          <a:prstGeom prst="rect">
            <a:avLst/>
          </a:prstGeom>
          <a:solidFill>
            <a:srgbClr val="0f1f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2" name="TextBox 2"/>
          <p:cNvSpPr/>
          <p:nvPr/>
        </p:nvSpPr>
        <p:spPr>
          <a:xfrm>
            <a:off x="457200" y="640080"/>
            <a:ext cx="11246760" cy="457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3000" spc="-1" strike="noStrike">
                <a:solidFill>
                  <a:srgbClr val="0f1f3a"/>
                </a:solidFill>
                <a:latin typeface="Calibri"/>
              </a:rPr>
              <a:t>What we built</a:t>
            </a:r>
            <a:endParaRPr b="0" lang="en-US" sz="3000" spc="-1" strike="noStrike">
              <a:solidFill>
                <a:srgbClr val="000000"/>
              </a:solidFill>
              <a:latin typeface="Arial"/>
            </a:endParaRPr>
          </a:p>
        </p:txBody>
      </p:sp>
      <p:sp>
        <p:nvSpPr>
          <p:cNvPr id="83" name="TextBox 3"/>
          <p:cNvSpPr/>
          <p:nvPr/>
        </p:nvSpPr>
        <p:spPr>
          <a:xfrm>
            <a:off x="457200" y="1115640"/>
            <a:ext cx="1124676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500" spc="-1" strike="noStrike">
                <a:solidFill>
                  <a:srgbClr val="4b5563"/>
                </a:solidFill>
                <a:latin typeface="Calibri"/>
              </a:rPr>
              <a:t>CLI analyses + a multi-page Streamlit dashboard over 6,453 GitHub issues</a:t>
            </a:r>
            <a:endParaRPr b="0" lang="en-US" sz="1500" spc="-1" strike="noStrike">
              <a:solidFill>
                <a:srgbClr val="000000"/>
              </a:solidFill>
              <a:latin typeface="Arial"/>
            </a:endParaRPr>
          </a:p>
        </p:txBody>
      </p:sp>
      <p:sp>
        <p:nvSpPr>
          <p:cNvPr id="84" name="Rectangle 4"/>
          <p:cNvSpPr/>
          <p:nvPr/>
        </p:nvSpPr>
        <p:spPr>
          <a:xfrm>
            <a:off x="457200" y="1554480"/>
            <a:ext cx="11246760" cy="1476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9880" bIns="-29880" anchor="ctr">
            <a:noAutofit/>
          </a:bodyPr>
          <a:p>
            <a:pPr algn="ctr" defTabSz="457200">
              <a:lnSpc>
                <a:spcPct val="100000"/>
              </a:lnSpc>
            </a:pPr>
            <a:endParaRPr b="0" lang="en-US" sz="1800" spc="-1" strike="noStrike">
              <a:solidFill>
                <a:schemeClr val="lt1"/>
              </a:solidFill>
              <a:latin typeface="Calibri"/>
            </a:endParaRPr>
          </a:p>
        </p:txBody>
      </p:sp>
      <p:sp>
        <p:nvSpPr>
          <p:cNvPr id="85" name="TextBox 5"/>
          <p:cNvSpPr/>
          <p:nvPr/>
        </p:nvSpPr>
        <p:spPr>
          <a:xfrm>
            <a:off x="457200" y="1828800"/>
            <a:ext cx="5120280" cy="3522240"/>
          </a:xfrm>
          <a:prstGeom prst="rect">
            <a:avLst/>
          </a:prstGeom>
          <a:noFill/>
          <a:ln w="0">
            <a:noFill/>
          </a:ln>
        </p:spPr>
        <p:style>
          <a:lnRef idx="0"/>
          <a:fillRef idx="0"/>
          <a:effectRef idx="0"/>
          <a:fontRef idx="minor"/>
        </p:style>
        <p:txBody>
          <a:bodyPr lIns="0" rIns="0" tIns="0" bIns="0" anchor="t">
            <a:spAutoFit/>
          </a:bodyPr>
          <a:p>
            <a:pPr defTabSz="457200">
              <a:lnSpc>
                <a:spcPct val="125000"/>
              </a:lnSpc>
              <a:spcAft>
                <a:spcPts val="601"/>
              </a:spcAft>
            </a:pPr>
            <a:r>
              <a:rPr b="1" lang="en-US" sz="1500" spc="-1" strike="noStrike">
                <a:solidFill>
                  <a:srgbClr val="10b981"/>
                </a:solidFill>
                <a:latin typeface="Calibri"/>
              </a:rPr>
              <a:t>▎ </a:t>
            </a:r>
            <a:r>
              <a:rPr b="0" lang="en-US" sz="1500" spc="-1" strike="noStrike">
                <a:solidFill>
                  <a:srgbClr val="1a1d29"/>
                </a:solidFill>
                <a:latin typeface="Calibri"/>
              </a:rPr>
              <a:t>3 CLI features (run.py --feature 0/1/2): example, label time-to-close, state breakdown</a:t>
            </a:r>
            <a:endParaRPr b="0" lang="en-US" sz="1500" spc="-1" strike="noStrike">
              <a:solidFill>
                <a:srgbClr val="000000"/>
              </a:solidFill>
              <a:latin typeface="Arial"/>
            </a:endParaRPr>
          </a:p>
          <a:p>
            <a:pPr defTabSz="457200">
              <a:lnSpc>
                <a:spcPct val="125000"/>
              </a:lnSpc>
              <a:spcAft>
                <a:spcPts val="601"/>
              </a:spcAft>
            </a:pPr>
            <a:r>
              <a:rPr b="1" lang="en-US" sz="1500" spc="-1" strike="noStrike">
                <a:solidFill>
                  <a:srgbClr val="10b981"/>
                </a:solidFill>
                <a:latin typeface="Calibri"/>
              </a:rPr>
              <a:t>▎ </a:t>
            </a:r>
            <a:r>
              <a:rPr b="0" lang="en-US" sz="1500" spc="-1" strike="noStrike">
                <a:solidFill>
                  <a:srgbClr val="1a1d29"/>
                </a:solidFill>
                <a:latin typeface="Calibri"/>
              </a:rPr>
              <a:t>1 dashboard feature (--feature 3): launches Streamlit</a:t>
            </a:r>
            <a:endParaRPr b="0" lang="en-US" sz="1500" spc="-1" strike="noStrike">
              <a:solidFill>
                <a:srgbClr val="000000"/>
              </a:solidFill>
              <a:latin typeface="Arial"/>
            </a:endParaRPr>
          </a:p>
          <a:p>
            <a:pPr defTabSz="457200">
              <a:lnSpc>
                <a:spcPct val="125000"/>
              </a:lnSpc>
              <a:spcAft>
                <a:spcPts val="601"/>
              </a:spcAft>
            </a:pPr>
            <a:r>
              <a:rPr b="1" lang="en-US" sz="1500" spc="-1" strike="noStrike">
                <a:solidFill>
                  <a:srgbClr val="10b981"/>
                </a:solidFill>
                <a:latin typeface="Calibri"/>
              </a:rPr>
              <a:t>▎ </a:t>
            </a:r>
            <a:r>
              <a:rPr b="0" lang="en-US" sz="1500" spc="-1" strike="noStrike">
                <a:solidFill>
                  <a:srgbClr val="1a1d29"/>
                </a:solidFill>
                <a:latin typeface="Calibri"/>
              </a:rPr>
              <a:t>7-page dashboard: Overview, Triage, Contributors, Trends, Stale, Resolution, Labels</a:t>
            </a:r>
            <a:endParaRPr b="0" lang="en-US" sz="1500" spc="-1" strike="noStrike">
              <a:solidFill>
                <a:srgbClr val="000000"/>
              </a:solidFill>
              <a:latin typeface="Arial"/>
            </a:endParaRPr>
          </a:p>
          <a:p>
            <a:pPr defTabSz="457200">
              <a:lnSpc>
                <a:spcPct val="125000"/>
              </a:lnSpc>
              <a:spcAft>
                <a:spcPts val="601"/>
              </a:spcAft>
            </a:pPr>
            <a:r>
              <a:rPr b="1" lang="en-US" sz="1500" spc="-1" strike="noStrike">
                <a:solidFill>
                  <a:srgbClr val="10b981"/>
                </a:solidFill>
                <a:latin typeface="Calibri"/>
              </a:rPr>
              <a:t>▎ </a:t>
            </a:r>
            <a:r>
              <a:rPr b="0" lang="en-US" sz="1500" spc="-1" strike="noStrike">
                <a:solidFill>
                  <a:srgbClr val="1a1d29"/>
                </a:solidFill>
                <a:latin typeface="Calibri"/>
              </a:rPr>
              <a:t>Sidebar filters: date range, state, labels, contributor (apply globally)</a:t>
            </a:r>
            <a:endParaRPr b="0" lang="en-US" sz="1500" spc="-1" strike="noStrike">
              <a:solidFill>
                <a:srgbClr val="000000"/>
              </a:solidFill>
              <a:latin typeface="Arial"/>
            </a:endParaRPr>
          </a:p>
          <a:p>
            <a:pPr defTabSz="457200">
              <a:lnSpc>
                <a:spcPct val="125000"/>
              </a:lnSpc>
              <a:spcAft>
                <a:spcPts val="601"/>
              </a:spcAft>
            </a:pPr>
            <a:r>
              <a:rPr b="1" lang="en-US" sz="1500" spc="-1" strike="noStrike">
                <a:solidFill>
                  <a:srgbClr val="10b981"/>
                </a:solidFill>
                <a:latin typeface="Calibri"/>
              </a:rPr>
              <a:t>▎ </a:t>
            </a:r>
            <a:r>
              <a:rPr b="0" lang="en-US" sz="1500" spc="-1" strike="noStrike">
                <a:solidFill>
                  <a:srgbClr val="1a1d29"/>
                </a:solidFill>
                <a:latin typeface="Calibri"/>
              </a:rPr>
              <a:t>Computed metrics: time-to-first-response, days-to-close, staleness buckets</a:t>
            </a:r>
            <a:endParaRPr b="0" lang="en-US" sz="1500" spc="-1" strike="noStrike">
              <a:solidFill>
                <a:srgbClr val="000000"/>
              </a:solidFill>
              <a:latin typeface="Arial"/>
            </a:endParaRPr>
          </a:p>
          <a:p>
            <a:pPr defTabSz="457200">
              <a:lnSpc>
                <a:spcPct val="125000"/>
              </a:lnSpc>
              <a:spcAft>
                <a:spcPts val="601"/>
              </a:spcAft>
            </a:pPr>
            <a:r>
              <a:rPr b="1" lang="en-US" sz="1500" spc="-1" strike="noStrike">
                <a:solidFill>
                  <a:srgbClr val="10b981"/>
                </a:solidFill>
                <a:latin typeface="Calibri"/>
              </a:rPr>
              <a:t>▎ </a:t>
            </a:r>
            <a:r>
              <a:rPr b="0" lang="en-US" sz="1500" spc="-1" strike="noStrike">
                <a:solidFill>
                  <a:srgbClr val="1a1d29"/>
                </a:solidFill>
                <a:latin typeface="Calibri"/>
              </a:rPr>
              <a:t>Unit-test suite: data loader, metrics, all 7 pages (≈1,000 LOC of tests)</a:t>
            </a:r>
            <a:endParaRPr b="0" lang="en-US" sz="1500" spc="-1" strike="noStrike">
              <a:solidFill>
                <a:srgbClr val="000000"/>
              </a:solidFill>
              <a:latin typeface="Arial"/>
            </a:endParaRPr>
          </a:p>
        </p:txBody>
      </p:sp>
      <p:pic>
        <p:nvPicPr>
          <p:cNvPr id="86" name="Picture 6" descr="00_main.png"/>
          <p:cNvPicPr/>
          <p:nvPr/>
        </p:nvPicPr>
        <p:blipFill>
          <a:blip r:embed="rId1"/>
          <a:stretch/>
        </p:blipFill>
        <p:spPr>
          <a:xfrm>
            <a:off x="5852160" y="1828800"/>
            <a:ext cx="5943240" cy="3146400"/>
          </a:xfrm>
          <a:prstGeom prst="rect">
            <a:avLst/>
          </a:prstGeom>
          <a:ln w="0">
            <a:noFill/>
          </a:ln>
        </p:spPr>
      </p:pic>
      <p:sp>
        <p:nvSpPr>
          <p:cNvPr id="87" name="TextBox 7"/>
          <p:cNvSpPr/>
          <p:nvPr/>
        </p:nvSpPr>
        <p:spPr>
          <a:xfrm>
            <a:off x="5852160" y="5989320"/>
            <a:ext cx="5943240" cy="1530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000" spc="-1" strike="noStrike">
                <a:solidFill>
                  <a:srgbClr val="4b5563"/>
                </a:solidFill>
                <a:latin typeface="Calibri"/>
              </a:rPr>
              <a:t>Dashboard landing page · live screenshot</a:t>
            </a:r>
            <a:endParaRPr b="0" lang="en-US" sz="1000" spc="-1" strike="noStrike">
              <a:solidFill>
                <a:srgbClr val="000000"/>
              </a:solidFill>
              <a:latin typeface="Arial"/>
            </a:endParaRPr>
          </a:p>
        </p:txBody>
      </p:sp>
      <p:sp>
        <p:nvSpPr>
          <p:cNvPr id="88" name="Rectangle 8"/>
          <p:cNvSpPr/>
          <p:nvPr/>
        </p:nvSpPr>
        <p:spPr>
          <a:xfrm>
            <a:off x="0" y="6446520"/>
            <a:ext cx="12191400" cy="4111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9" name="TextBox 9"/>
          <p:cNvSpPr/>
          <p:nvPr/>
        </p:nvSpPr>
        <p:spPr>
          <a:xfrm>
            <a:off x="457200" y="6580080"/>
            <a:ext cx="7314840" cy="1533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pc="-1" strike="noStrike">
                <a:solidFill>
                  <a:srgbClr val="4b5563"/>
                </a:solidFill>
                <a:latin typeface="Calibri"/>
              </a:rPr>
              <a:t>ENPM611 — Poetry Issues Analytics — Team: Collins, Hunt, Shah</a:t>
            </a:r>
            <a:endParaRPr b="0" lang="en-US" sz="1000" spc="-1" strike="noStrike">
              <a:solidFill>
                <a:srgbClr val="000000"/>
              </a:solidFill>
              <a:latin typeface="Arial"/>
            </a:endParaRPr>
          </a:p>
        </p:txBody>
      </p:sp>
      <p:sp>
        <p:nvSpPr>
          <p:cNvPr id="90" name="TextBox 10"/>
          <p:cNvSpPr/>
          <p:nvPr/>
        </p:nvSpPr>
        <p:spPr>
          <a:xfrm>
            <a:off x="7772400" y="6580080"/>
            <a:ext cx="274284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pc="-1" strike="noStrike">
                <a:solidFill>
                  <a:srgbClr val="4b5563"/>
                </a:solidFill>
                <a:latin typeface="Calibri"/>
              </a:rPr>
              <a:t>OVERVIEW</a:t>
            </a:r>
            <a:endParaRPr b="0" lang="en-US" sz="1000" spc="-1" strike="noStrike">
              <a:solidFill>
                <a:srgbClr val="000000"/>
              </a:solidFill>
              <a:latin typeface="Arial"/>
            </a:endParaRPr>
          </a:p>
        </p:txBody>
      </p:sp>
      <p:sp>
        <p:nvSpPr>
          <p:cNvPr id="91" name="TextBox 11"/>
          <p:cNvSpPr/>
          <p:nvPr/>
        </p:nvSpPr>
        <p:spPr>
          <a:xfrm>
            <a:off x="10698480" y="6580080"/>
            <a:ext cx="100548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1" lang="en-US" sz="1000" spc="-1" strike="noStrike">
                <a:solidFill>
                  <a:srgbClr val="0f1f3a"/>
                </a:solidFill>
                <a:latin typeface="Calibri"/>
              </a:rPr>
              <a:t>2 / 12</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Rectangle 1"/>
          <p:cNvSpPr/>
          <p:nvPr/>
        </p:nvSpPr>
        <p:spPr>
          <a:xfrm>
            <a:off x="0" y="0"/>
            <a:ext cx="12191400" cy="502560"/>
          </a:xfrm>
          <a:prstGeom prst="rect">
            <a:avLst/>
          </a:prstGeom>
          <a:solidFill>
            <a:srgbClr val="0f1f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3" name="TextBox 2"/>
          <p:cNvSpPr/>
          <p:nvPr/>
        </p:nvSpPr>
        <p:spPr>
          <a:xfrm>
            <a:off x="457200" y="640080"/>
            <a:ext cx="11246760" cy="457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3000" spc="-1" strike="noStrike">
                <a:solidFill>
                  <a:srgbClr val="0f1f3a"/>
                </a:solidFill>
                <a:latin typeface="Calibri"/>
              </a:rPr>
              <a:t>Initial design (Milestone 1)</a:t>
            </a:r>
            <a:endParaRPr b="0" lang="en-US" sz="3000" spc="-1" strike="noStrike">
              <a:solidFill>
                <a:srgbClr val="000000"/>
              </a:solidFill>
              <a:latin typeface="Arial"/>
            </a:endParaRPr>
          </a:p>
        </p:txBody>
      </p:sp>
      <p:sp>
        <p:nvSpPr>
          <p:cNvPr id="94" name="TextBox 3"/>
          <p:cNvSpPr/>
          <p:nvPr/>
        </p:nvSpPr>
        <p:spPr>
          <a:xfrm>
            <a:off x="457200" y="1115640"/>
            <a:ext cx="1124676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500" spc="-1" strike="noStrike">
                <a:solidFill>
                  <a:srgbClr val="4b5563"/>
                </a:solidFill>
                <a:latin typeface="Calibri"/>
              </a:rPr>
              <a:t>What we submitted: a class diagram + ERD for the CLI app</a:t>
            </a:r>
            <a:endParaRPr b="0" lang="en-US" sz="1500" spc="-1" strike="noStrike">
              <a:solidFill>
                <a:srgbClr val="000000"/>
              </a:solidFill>
              <a:latin typeface="Arial"/>
            </a:endParaRPr>
          </a:p>
        </p:txBody>
      </p:sp>
      <p:sp>
        <p:nvSpPr>
          <p:cNvPr id="95" name="Rectangle 4"/>
          <p:cNvSpPr/>
          <p:nvPr/>
        </p:nvSpPr>
        <p:spPr>
          <a:xfrm>
            <a:off x="457200" y="1554480"/>
            <a:ext cx="11246760" cy="1476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9880" bIns="-29880" anchor="ctr">
            <a:noAutofit/>
          </a:bodyPr>
          <a:p>
            <a:pPr algn="ctr" defTabSz="457200">
              <a:lnSpc>
                <a:spcPct val="100000"/>
              </a:lnSpc>
            </a:pPr>
            <a:endParaRPr b="0" lang="en-US" sz="1800" spc="-1" strike="noStrike">
              <a:solidFill>
                <a:schemeClr val="lt1"/>
              </a:solidFill>
              <a:latin typeface="Calibri"/>
            </a:endParaRPr>
          </a:p>
        </p:txBody>
      </p:sp>
      <p:sp>
        <p:nvSpPr>
          <p:cNvPr id="96" name="TextBox 5"/>
          <p:cNvSpPr/>
          <p:nvPr/>
        </p:nvSpPr>
        <p:spPr>
          <a:xfrm>
            <a:off x="457200" y="1828800"/>
            <a:ext cx="548604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f1f3a"/>
                </a:solidFill>
                <a:latin typeface="Calibri"/>
              </a:rPr>
              <a:t>Entities (ERD)</a:t>
            </a:r>
            <a:endParaRPr b="0" lang="en-US" sz="1400" spc="-1" strike="noStrike">
              <a:solidFill>
                <a:srgbClr val="000000"/>
              </a:solidFill>
              <a:latin typeface="Arial"/>
            </a:endParaRPr>
          </a:p>
        </p:txBody>
      </p:sp>
      <p:sp>
        <p:nvSpPr>
          <p:cNvPr id="97" name="TextBox 6"/>
          <p:cNvSpPr/>
          <p:nvPr/>
        </p:nvSpPr>
        <p:spPr>
          <a:xfrm>
            <a:off x="457200" y="2194560"/>
            <a:ext cx="5486040" cy="1296360"/>
          </a:xfrm>
          <a:prstGeom prst="rect">
            <a:avLst/>
          </a:prstGeom>
          <a:noFill/>
          <a:ln w="0">
            <a:noFill/>
          </a:ln>
        </p:spPr>
        <p:style>
          <a:lnRef idx="0"/>
          <a:fillRef idx="0"/>
          <a:effectRef idx="0"/>
          <a:fontRef idx="minor"/>
        </p:style>
        <p:txBody>
          <a:bodyPr lIns="0" rIns="0" tIns="0" bIns="0" anchor="t">
            <a:spAutoFit/>
          </a:bodyPr>
          <a:p>
            <a:pPr defTabSz="457200">
              <a:lnSpc>
                <a:spcPct val="125000"/>
              </a:lnSpc>
              <a:spcAft>
                <a:spcPts val="601"/>
              </a:spcAft>
            </a:pPr>
            <a:r>
              <a:rPr b="1" lang="en-US" sz="1400" spc="-1" strike="noStrike">
                <a:solidFill>
                  <a:srgbClr val="10b981"/>
                </a:solidFill>
                <a:latin typeface="Calibri"/>
              </a:rPr>
              <a:t>▎ </a:t>
            </a:r>
            <a:r>
              <a:rPr b="0" lang="en-US" sz="1400" spc="-1" strike="noStrike">
                <a:solidFill>
                  <a:srgbClr val="1a1d29"/>
                </a:solidFill>
                <a:latin typeface="Calibri"/>
              </a:rPr>
              <a:t>Issue — number, state, title, labels, dates, events</a:t>
            </a:r>
            <a:endParaRPr b="0" lang="en-US" sz="1400" spc="-1" strike="noStrike">
              <a:solidFill>
                <a:srgbClr val="000000"/>
              </a:solidFill>
              <a:latin typeface="Arial"/>
            </a:endParaRPr>
          </a:p>
          <a:p>
            <a:pPr defTabSz="457200">
              <a:lnSpc>
                <a:spcPct val="125000"/>
              </a:lnSpc>
              <a:spcAft>
                <a:spcPts val="601"/>
              </a:spcAft>
            </a:pPr>
            <a:r>
              <a:rPr b="1" lang="en-US" sz="1400" spc="-1" strike="noStrike">
                <a:solidFill>
                  <a:srgbClr val="10b981"/>
                </a:solidFill>
                <a:latin typeface="Calibri"/>
              </a:rPr>
              <a:t>▎ </a:t>
            </a:r>
            <a:r>
              <a:rPr b="0" lang="en-US" sz="1400" spc="-1" strike="noStrike">
                <a:solidFill>
                  <a:srgbClr val="1a1d29"/>
                </a:solidFill>
                <a:latin typeface="Calibri"/>
              </a:rPr>
              <a:t>Event — type, author, date, label, comment</a:t>
            </a:r>
            <a:endParaRPr b="0" lang="en-US" sz="1400" spc="-1" strike="noStrike">
              <a:solidFill>
                <a:srgbClr val="000000"/>
              </a:solidFill>
              <a:latin typeface="Arial"/>
            </a:endParaRPr>
          </a:p>
          <a:p>
            <a:pPr defTabSz="457200">
              <a:lnSpc>
                <a:spcPct val="125000"/>
              </a:lnSpc>
              <a:spcAft>
                <a:spcPts val="601"/>
              </a:spcAft>
            </a:pPr>
            <a:r>
              <a:rPr b="1" lang="en-US" sz="1400" spc="-1" strike="noStrike">
                <a:solidFill>
                  <a:srgbClr val="10b981"/>
                </a:solidFill>
                <a:latin typeface="Calibri"/>
              </a:rPr>
              <a:t>▎ </a:t>
            </a:r>
            <a:r>
              <a:rPr b="0" lang="en-US" sz="1400" spc="-1" strike="noStrike">
                <a:solidFill>
                  <a:srgbClr val="1a1d29"/>
                </a:solidFill>
                <a:latin typeface="Calibri"/>
              </a:rPr>
              <a:t>User — creates issues, authors events</a:t>
            </a:r>
            <a:endParaRPr b="0" lang="en-US" sz="1400" spc="-1" strike="noStrike">
              <a:solidFill>
                <a:srgbClr val="000000"/>
              </a:solidFill>
              <a:latin typeface="Arial"/>
            </a:endParaRPr>
          </a:p>
          <a:p>
            <a:pPr defTabSz="457200">
              <a:lnSpc>
                <a:spcPct val="125000"/>
              </a:lnSpc>
              <a:spcAft>
                <a:spcPts val="601"/>
              </a:spcAft>
            </a:pPr>
            <a:r>
              <a:rPr b="1" lang="en-US" sz="1400" spc="-1" strike="noStrike">
                <a:solidFill>
                  <a:srgbClr val="10b981"/>
                </a:solidFill>
                <a:latin typeface="Calibri"/>
              </a:rPr>
              <a:t>▎ </a:t>
            </a:r>
            <a:r>
              <a:rPr b="0" lang="en-US" sz="1400" spc="-1" strike="noStrike">
                <a:solidFill>
                  <a:srgbClr val="1a1d29"/>
                </a:solidFill>
                <a:latin typeface="Calibri"/>
              </a:rPr>
              <a:t>Label — many-to-many with issues</a:t>
            </a:r>
            <a:endParaRPr b="0" lang="en-US" sz="1400" spc="-1" strike="noStrike">
              <a:solidFill>
                <a:srgbClr val="000000"/>
              </a:solidFill>
              <a:latin typeface="Arial"/>
            </a:endParaRPr>
          </a:p>
        </p:txBody>
      </p:sp>
      <p:sp>
        <p:nvSpPr>
          <p:cNvPr id="98" name="TextBox 7"/>
          <p:cNvSpPr/>
          <p:nvPr/>
        </p:nvSpPr>
        <p:spPr>
          <a:xfrm>
            <a:off x="457200" y="4297680"/>
            <a:ext cx="548604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f1f3a"/>
                </a:solidFill>
                <a:latin typeface="Calibri"/>
              </a:rPr>
              <a:t>Classes (class diagram)</a:t>
            </a:r>
            <a:endParaRPr b="0" lang="en-US" sz="1400" spc="-1" strike="noStrike">
              <a:solidFill>
                <a:srgbClr val="000000"/>
              </a:solidFill>
              <a:latin typeface="Arial"/>
            </a:endParaRPr>
          </a:p>
        </p:txBody>
      </p:sp>
      <p:sp>
        <p:nvSpPr>
          <p:cNvPr id="99" name="TextBox 8"/>
          <p:cNvSpPr/>
          <p:nvPr/>
        </p:nvSpPr>
        <p:spPr>
          <a:xfrm>
            <a:off x="457200" y="4663440"/>
            <a:ext cx="5486040" cy="953280"/>
          </a:xfrm>
          <a:prstGeom prst="rect">
            <a:avLst/>
          </a:prstGeom>
          <a:noFill/>
          <a:ln w="0">
            <a:noFill/>
          </a:ln>
        </p:spPr>
        <p:style>
          <a:lnRef idx="0"/>
          <a:fillRef idx="0"/>
          <a:effectRef idx="0"/>
          <a:fontRef idx="minor"/>
        </p:style>
        <p:txBody>
          <a:bodyPr lIns="0" rIns="0" tIns="0" bIns="0" anchor="t">
            <a:spAutoFit/>
          </a:bodyPr>
          <a:p>
            <a:pPr defTabSz="457200">
              <a:lnSpc>
                <a:spcPct val="125000"/>
              </a:lnSpc>
              <a:spcAft>
                <a:spcPts val="601"/>
              </a:spcAft>
            </a:pPr>
            <a:r>
              <a:rPr b="1" lang="en-US" sz="1400" spc="-1" strike="noStrike">
                <a:solidFill>
                  <a:srgbClr val="10b981"/>
                </a:solidFill>
                <a:latin typeface="Calibri"/>
              </a:rPr>
              <a:t>▎ </a:t>
            </a:r>
            <a:r>
              <a:rPr b="0" lang="en-US" sz="1400" spc="-1" strike="noStrike">
                <a:solidFill>
                  <a:srgbClr val="1a1d29"/>
                </a:solidFill>
                <a:latin typeface="Calibri"/>
              </a:rPr>
              <a:t>DataLoader · config · model.Issue · model.Event</a:t>
            </a:r>
            <a:endParaRPr b="0" lang="en-US" sz="1400" spc="-1" strike="noStrike">
              <a:solidFill>
                <a:srgbClr val="000000"/>
              </a:solidFill>
              <a:latin typeface="Arial"/>
            </a:endParaRPr>
          </a:p>
          <a:p>
            <a:pPr defTabSz="457200">
              <a:lnSpc>
                <a:spcPct val="125000"/>
              </a:lnSpc>
              <a:spcAft>
                <a:spcPts val="601"/>
              </a:spcAft>
            </a:pPr>
            <a:r>
              <a:rPr b="1" lang="en-US" sz="1400" spc="-1" strike="noStrike">
                <a:solidFill>
                  <a:srgbClr val="10b981"/>
                </a:solidFill>
                <a:latin typeface="Calibri"/>
              </a:rPr>
              <a:t>▎ </a:t>
            </a:r>
            <a:r>
              <a:rPr b="0" lang="en-US" sz="1400" spc="-1" strike="noStrike">
                <a:solidFill>
                  <a:srgbClr val="1a1d29"/>
                </a:solidFill>
                <a:latin typeface="Calibri"/>
              </a:rPr>
              <a:t>ExampleAnalysis · LabelsAnalysis · IssuePull</a:t>
            </a:r>
            <a:endParaRPr b="0" lang="en-US" sz="1400" spc="-1" strike="noStrike">
              <a:solidFill>
                <a:srgbClr val="000000"/>
              </a:solidFill>
              <a:latin typeface="Arial"/>
            </a:endParaRPr>
          </a:p>
          <a:p>
            <a:pPr defTabSz="457200">
              <a:lnSpc>
                <a:spcPct val="125000"/>
              </a:lnSpc>
              <a:spcAft>
                <a:spcPts val="601"/>
              </a:spcAft>
            </a:pPr>
            <a:r>
              <a:rPr b="1" lang="en-US" sz="1400" spc="-1" strike="noStrike">
                <a:solidFill>
                  <a:srgbClr val="10b981"/>
                </a:solidFill>
                <a:latin typeface="Calibri"/>
              </a:rPr>
              <a:t>▎ </a:t>
            </a:r>
            <a:r>
              <a:rPr b="0" lang="en-US" sz="1400" spc="-1" strike="noStrike">
                <a:solidFill>
                  <a:srgbClr val="1a1d29"/>
                </a:solidFill>
                <a:latin typeface="Calibri"/>
              </a:rPr>
              <a:t>run.py wires everything to a --feature flag</a:t>
            </a:r>
            <a:endParaRPr b="0" lang="en-US" sz="1400" spc="-1" strike="noStrike">
              <a:solidFill>
                <a:srgbClr val="000000"/>
              </a:solidFill>
              <a:latin typeface="Arial"/>
            </a:endParaRPr>
          </a:p>
        </p:txBody>
      </p:sp>
      <p:sp>
        <p:nvSpPr>
          <p:cNvPr id="100" name="TextBox 9"/>
          <p:cNvSpPr/>
          <p:nvPr/>
        </p:nvSpPr>
        <p:spPr>
          <a:xfrm>
            <a:off x="6400800" y="1828800"/>
            <a:ext cx="530316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f1f3a"/>
                </a:solidFill>
                <a:latin typeface="Calibri"/>
              </a:rPr>
              <a:t>Plan at submission time</a:t>
            </a:r>
            <a:endParaRPr b="0" lang="en-US" sz="1400" spc="-1" strike="noStrike">
              <a:solidFill>
                <a:srgbClr val="000000"/>
              </a:solidFill>
              <a:latin typeface="Arial"/>
            </a:endParaRPr>
          </a:p>
        </p:txBody>
      </p:sp>
      <p:sp>
        <p:nvSpPr>
          <p:cNvPr id="101" name="TextBox 10"/>
          <p:cNvSpPr/>
          <p:nvPr/>
        </p:nvSpPr>
        <p:spPr>
          <a:xfrm>
            <a:off x="6400800" y="2194560"/>
            <a:ext cx="5303160" cy="1639440"/>
          </a:xfrm>
          <a:prstGeom prst="rect">
            <a:avLst/>
          </a:prstGeom>
          <a:noFill/>
          <a:ln w="0">
            <a:noFill/>
          </a:ln>
        </p:spPr>
        <p:style>
          <a:lnRef idx="0"/>
          <a:fillRef idx="0"/>
          <a:effectRef idx="0"/>
          <a:fontRef idx="minor"/>
        </p:style>
        <p:txBody>
          <a:bodyPr lIns="0" rIns="0" tIns="0" bIns="0" anchor="t">
            <a:spAutoFit/>
          </a:bodyPr>
          <a:p>
            <a:pPr defTabSz="457200">
              <a:lnSpc>
                <a:spcPct val="125000"/>
              </a:lnSpc>
              <a:spcAft>
                <a:spcPts val="601"/>
              </a:spcAft>
            </a:pPr>
            <a:r>
              <a:rPr b="1" lang="en-US" sz="1400" spc="-1" strike="noStrike">
                <a:solidFill>
                  <a:srgbClr val="10b981"/>
                </a:solidFill>
                <a:latin typeface="Calibri"/>
              </a:rPr>
              <a:t>▎ </a:t>
            </a:r>
            <a:r>
              <a:rPr b="0" lang="en-US" sz="1400" spc="-1" strike="noStrike">
                <a:solidFill>
                  <a:srgbClr val="1a1d29"/>
                </a:solidFill>
                <a:latin typeface="Calibri"/>
              </a:rPr>
              <a:t>Three CLI analyses, each printing tables + matplotlib charts</a:t>
            </a:r>
            <a:endParaRPr b="0" lang="en-US" sz="1400" spc="-1" strike="noStrike">
              <a:solidFill>
                <a:srgbClr val="000000"/>
              </a:solidFill>
              <a:latin typeface="Arial"/>
            </a:endParaRPr>
          </a:p>
          <a:p>
            <a:pPr defTabSz="457200">
              <a:lnSpc>
                <a:spcPct val="125000"/>
              </a:lnSpc>
              <a:spcAft>
                <a:spcPts val="601"/>
              </a:spcAft>
            </a:pPr>
            <a:r>
              <a:rPr b="1" lang="en-US" sz="1400" spc="-1" strike="noStrike">
                <a:solidFill>
                  <a:srgbClr val="10b981"/>
                </a:solidFill>
                <a:latin typeface="Calibri"/>
              </a:rPr>
              <a:t>▎ </a:t>
            </a:r>
            <a:r>
              <a:rPr b="0" lang="en-US" sz="1400" spc="-1" strike="noStrike">
                <a:solidFill>
                  <a:srgbClr val="1a1d29"/>
                </a:solidFill>
                <a:latin typeface="Calibri"/>
              </a:rPr>
              <a:t>Object-graph data model: Issue holds a list of Event</a:t>
            </a:r>
            <a:endParaRPr b="0" lang="en-US" sz="1400" spc="-1" strike="noStrike">
              <a:solidFill>
                <a:srgbClr val="000000"/>
              </a:solidFill>
              <a:latin typeface="Arial"/>
            </a:endParaRPr>
          </a:p>
          <a:p>
            <a:pPr defTabSz="457200">
              <a:lnSpc>
                <a:spcPct val="125000"/>
              </a:lnSpc>
              <a:spcAft>
                <a:spcPts val="601"/>
              </a:spcAft>
            </a:pPr>
            <a:r>
              <a:rPr b="1" lang="en-US" sz="1400" spc="-1" strike="noStrike">
                <a:solidFill>
                  <a:srgbClr val="10b981"/>
                </a:solidFill>
                <a:latin typeface="Calibri"/>
              </a:rPr>
              <a:t>▎ </a:t>
            </a:r>
            <a:r>
              <a:rPr b="0" lang="en-US" sz="1400" spc="-1" strike="noStrike">
                <a:solidFill>
                  <a:srgbClr val="1a1d29"/>
                </a:solidFill>
                <a:latin typeface="Calibri"/>
              </a:rPr>
              <a:t>config.json + env override for the data file path</a:t>
            </a:r>
            <a:endParaRPr b="0" lang="en-US" sz="1400" spc="-1" strike="noStrike">
              <a:solidFill>
                <a:srgbClr val="000000"/>
              </a:solidFill>
              <a:latin typeface="Arial"/>
            </a:endParaRPr>
          </a:p>
          <a:p>
            <a:pPr defTabSz="457200">
              <a:lnSpc>
                <a:spcPct val="125000"/>
              </a:lnSpc>
              <a:spcAft>
                <a:spcPts val="601"/>
              </a:spcAft>
            </a:pPr>
            <a:r>
              <a:rPr b="1" lang="en-US" sz="1400" spc="-1" strike="noStrike">
                <a:solidFill>
                  <a:srgbClr val="10b981"/>
                </a:solidFill>
                <a:latin typeface="Calibri"/>
              </a:rPr>
              <a:t>▎ </a:t>
            </a:r>
            <a:r>
              <a:rPr b="0" lang="en-US" sz="1400" spc="-1" strike="noStrike">
                <a:solidFill>
                  <a:srgbClr val="1a1d29"/>
                </a:solidFill>
                <a:latin typeface="Calibri"/>
              </a:rPr>
              <a:t>Tests: not yet scoped (Milestone 1 was design only)</a:t>
            </a:r>
            <a:endParaRPr b="0" lang="en-US" sz="1400" spc="-1" strike="noStrike">
              <a:solidFill>
                <a:srgbClr val="000000"/>
              </a:solidFill>
              <a:latin typeface="Arial"/>
            </a:endParaRPr>
          </a:p>
          <a:p>
            <a:pPr defTabSz="457200">
              <a:lnSpc>
                <a:spcPct val="125000"/>
              </a:lnSpc>
              <a:spcAft>
                <a:spcPts val="601"/>
              </a:spcAft>
            </a:pPr>
            <a:r>
              <a:rPr b="1" lang="en-US" sz="1400" spc="-1" strike="noStrike">
                <a:solidFill>
                  <a:srgbClr val="10b981"/>
                </a:solidFill>
                <a:latin typeface="Calibri"/>
              </a:rPr>
              <a:t>▎ </a:t>
            </a:r>
            <a:r>
              <a:rPr b="0" lang="en-US" sz="1400" spc="-1" strike="noStrike">
                <a:solidFill>
                  <a:srgbClr val="1a1d29"/>
                </a:solidFill>
                <a:latin typeface="Calibri"/>
              </a:rPr>
              <a:t>Diagrams committed to /diagrams as the source of truth</a:t>
            </a:r>
            <a:endParaRPr b="0" lang="en-US" sz="1400" spc="-1" strike="noStrike">
              <a:solidFill>
                <a:srgbClr val="000000"/>
              </a:solidFill>
              <a:latin typeface="Arial"/>
            </a:endParaRPr>
          </a:p>
        </p:txBody>
      </p:sp>
      <p:sp>
        <p:nvSpPr>
          <p:cNvPr id="102" name="TextBox 11"/>
          <p:cNvSpPr/>
          <p:nvPr/>
        </p:nvSpPr>
        <p:spPr>
          <a:xfrm>
            <a:off x="6400800" y="5852160"/>
            <a:ext cx="5303160" cy="366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00" spc="-1" strike="noStrike">
                <a:solidFill>
                  <a:srgbClr val="4b5563"/>
                </a:solidFill>
                <a:latin typeface="Calibri"/>
              </a:rPr>
              <a:t>Note: there was no dashboard, no DataFrame layer, and no derived metrics in the original design.</a:t>
            </a:r>
            <a:endParaRPr b="0" lang="en-US" sz="1200" spc="-1" strike="noStrike">
              <a:solidFill>
                <a:srgbClr val="000000"/>
              </a:solidFill>
              <a:latin typeface="Arial"/>
            </a:endParaRPr>
          </a:p>
        </p:txBody>
      </p:sp>
      <p:sp>
        <p:nvSpPr>
          <p:cNvPr id="103" name="Rectangle 12"/>
          <p:cNvSpPr/>
          <p:nvPr/>
        </p:nvSpPr>
        <p:spPr>
          <a:xfrm>
            <a:off x="0" y="6446520"/>
            <a:ext cx="12191400" cy="4111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4" name="TextBox 13"/>
          <p:cNvSpPr/>
          <p:nvPr/>
        </p:nvSpPr>
        <p:spPr>
          <a:xfrm>
            <a:off x="457200" y="6580080"/>
            <a:ext cx="7314840" cy="1533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pc="-1" strike="noStrike">
                <a:solidFill>
                  <a:srgbClr val="4b5563"/>
                </a:solidFill>
                <a:latin typeface="Calibri"/>
              </a:rPr>
              <a:t>ENPM611 — Poetry Issues Analytics — Team: Collins, Hunt, Shah</a:t>
            </a:r>
            <a:endParaRPr b="0" lang="en-US" sz="1000" spc="-1" strike="noStrike">
              <a:solidFill>
                <a:srgbClr val="000000"/>
              </a:solidFill>
              <a:latin typeface="Arial"/>
            </a:endParaRPr>
          </a:p>
        </p:txBody>
      </p:sp>
      <p:sp>
        <p:nvSpPr>
          <p:cNvPr id="105" name="TextBox 14"/>
          <p:cNvSpPr/>
          <p:nvPr/>
        </p:nvSpPr>
        <p:spPr>
          <a:xfrm>
            <a:off x="7772400" y="6580080"/>
            <a:ext cx="274284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pc="-1" strike="noStrike">
                <a:solidFill>
                  <a:srgbClr val="4b5563"/>
                </a:solidFill>
                <a:latin typeface="Calibri"/>
              </a:rPr>
              <a:t>DESIGN</a:t>
            </a:r>
            <a:endParaRPr b="0" lang="en-US" sz="1000" spc="-1" strike="noStrike">
              <a:solidFill>
                <a:srgbClr val="000000"/>
              </a:solidFill>
              <a:latin typeface="Arial"/>
            </a:endParaRPr>
          </a:p>
        </p:txBody>
      </p:sp>
      <p:sp>
        <p:nvSpPr>
          <p:cNvPr id="106" name="TextBox 15"/>
          <p:cNvSpPr/>
          <p:nvPr/>
        </p:nvSpPr>
        <p:spPr>
          <a:xfrm>
            <a:off x="10698480" y="6580080"/>
            <a:ext cx="100548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1" lang="en-US" sz="1000" spc="-1" strike="noStrike">
                <a:solidFill>
                  <a:srgbClr val="0f1f3a"/>
                </a:solidFill>
                <a:latin typeface="Calibri"/>
              </a:rPr>
              <a:t>3 / 12</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Rectangle 1"/>
          <p:cNvSpPr/>
          <p:nvPr/>
        </p:nvSpPr>
        <p:spPr>
          <a:xfrm>
            <a:off x="0" y="0"/>
            <a:ext cx="12191400" cy="502560"/>
          </a:xfrm>
          <a:prstGeom prst="rect">
            <a:avLst/>
          </a:prstGeom>
          <a:solidFill>
            <a:srgbClr val="0f1f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8" name="TextBox 2"/>
          <p:cNvSpPr/>
          <p:nvPr/>
        </p:nvSpPr>
        <p:spPr>
          <a:xfrm>
            <a:off x="457200" y="640080"/>
            <a:ext cx="11246760" cy="457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3000" spc="-1" strike="noStrike">
                <a:solidFill>
                  <a:srgbClr val="0f1f3a"/>
                </a:solidFill>
                <a:latin typeface="Calibri"/>
              </a:rPr>
              <a:t>What changed in the final design</a:t>
            </a:r>
            <a:endParaRPr b="0" lang="en-US" sz="3000" spc="-1" strike="noStrike">
              <a:solidFill>
                <a:srgbClr val="000000"/>
              </a:solidFill>
              <a:latin typeface="Arial"/>
            </a:endParaRPr>
          </a:p>
        </p:txBody>
      </p:sp>
      <p:sp>
        <p:nvSpPr>
          <p:cNvPr id="109" name="TextBox 3"/>
          <p:cNvSpPr/>
          <p:nvPr/>
        </p:nvSpPr>
        <p:spPr>
          <a:xfrm>
            <a:off x="457200" y="1115640"/>
            <a:ext cx="1124676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500" spc="-1" strike="noStrike">
                <a:solidFill>
                  <a:srgbClr val="4b5563"/>
                </a:solidFill>
                <a:latin typeface="Calibri"/>
              </a:rPr>
              <a:t>Three categories of divergence from the milestone-1 submission</a:t>
            </a:r>
            <a:endParaRPr b="0" lang="en-US" sz="1500" spc="-1" strike="noStrike">
              <a:solidFill>
                <a:srgbClr val="000000"/>
              </a:solidFill>
              <a:latin typeface="Arial"/>
            </a:endParaRPr>
          </a:p>
        </p:txBody>
      </p:sp>
      <p:sp>
        <p:nvSpPr>
          <p:cNvPr id="110" name="Rectangle 4"/>
          <p:cNvSpPr/>
          <p:nvPr/>
        </p:nvSpPr>
        <p:spPr>
          <a:xfrm>
            <a:off x="457200" y="1554480"/>
            <a:ext cx="11246760" cy="1476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9880" bIns="-29880" anchor="ctr">
            <a:noAutofit/>
          </a:bodyPr>
          <a:p>
            <a:pPr algn="ctr" defTabSz="457200">
              <a:lnSpc>
                <a:spcPct val="100000"/>
              </a:lnSpc>
            </a:pPr>
            <a:endParaRPr b="0" lang="en-US" sz="1800" spc="-1" strike="noStrike">
              <a:solidFill>
                <a:schemeClr val="lt1"/>
              </a:solidFill>
              <a:latin typeface="Calibri"/>
            </a:endParaRPr>
          </a:p>
        </p:txBody>
      </p:sp>
      <p:sp>
        <p:nvSpPr>
          <p:cNvPr id="111" name="Rectangle 5"/>
          <p:cNvSpPr/>
          <p:nvPr/>
        </p:nvSpPr>
        <p:spPr>
          <a:xfrm>
            <a:off x="457200" y="1828800"/>
            <a:ext cx="3748680" cy="502560"/>
          </a:xfrm>
          <a:prstGeom prst="rect">
            <a:avLst/>
          </a:prstGeom>
          <a:solidFill>
            <a:srgbClr val="10b98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2" name="TextBox 6"/>
          <p:cNvSpPr/>
          <p:nvPr/>
        </p:nvSpPr>
        <p:spPr>
          <a:xfrm>
            <a:off x="640080" y="1983600"/>
            <a:ext cx="3382920" cy="229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500" spc="-1" strike="noStrike">
                <a:solidFill>
                  <a:srgbClr val="ffffff"/>
                </a:solidFill>
                <a:latin typeface="Calibri"/>
              </a:rPr>
              <a:t>New subsystem</a:t>
            </a:r>
            <a:endParaRPr b="0" lang="en-US" sz="1500" spc="-1" strike="noStrike">
              <a:solidFill>
                <a:srgbClr val="000000"/>
              </a:solidFill>
              <a:latin typeface="Arial"/>
            </a:endParaRPr>
          </a:p>
        </p:txBody>
      </p:sp>
      <p:sp>
        <p:nvSpPr>
          <p:cNvPr id="113" name="Rectangle 7"/>
          <p:cNvSpPr/>
          <p:nvPr/>
        </p:nvSpPr>
        <p:spPr>
          <a:xfrm>
            <a:off x="457200" y="2331720"/>
            <a:ext cx="3748680" cy="402300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4" name="TextBox 8"/>
          <p:cNvSpPr/>
          <p:nvPr/>
        </p:nvSpPr>
        <p:spPr>
          <a:xfrm>
            <a:off x="685800" y="2468880"/>
            <a:ext cx="3291480" cy="1448640"/>
          </a:xfrm>
          <a:prstGeom prst="rect">
            <a:avLst/>
          </a:prstGeom>
          <a:noFill/>
          <a:ln w="0">
            <a:noFill/>
          </a:ln>
        </p:spPr>
        <p:style>
          <a:lnRef idx="0"/>
          <a:fillRef idx="0"/>
          <a:effectRef idx="0"/>
          <a:fontRef idx="minor"/>
        </p:style>
        <p:txBody>
          <a:bodyPr lIns="0" rIns="0" tIns="0" bIns="0" anchor="t">
            <a:spAutoFit/>
          </a:bodyPr>
          <a:p>
            <a:pPr defTabSz="457200">
              <a:lnSpc>
                <a:spcPct val="125000"/>
              </a:lnSpc>
              <a:spcAft>
                <a:spcPts val="601"/>
              </a:spcAft>
            </a:pPr>
            <a:r>
              <a:rPr b="1" lang="en-US" sz="1200" spc="-1" strike="noStrike">
                <a:solidFill>
                  <a:srgbClr val="10b981"/>
                </a:solidFill>
                <a:latin typeface="Calibri"/>
              </a:rPr>
              <a:t>▎ </a:t>
            </a:r>
            <a:r>
              <a:rPr b="0" lang="en-US" sz="1200" spc="-1" strike="noStrike">
                <a:solidFill>
                  <a:srgbClr val="1a1d29"/>
                </a:solidFill>
                <a:latin typeface="Calibri"/>
              </a:rPr>
              <a:t>Streamlit dashboard module (dashboard/)</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10b981"/>
                </a:solidFill>
                <a:latin typeface="Calibri"/>
              </a:rPr>
              <a:t>▎ </a:t>
            </a:r>
            <a:r>
              <a:rPr b="0" lang="en-US" sz="1200" spc="-1" strike="noStrike">
                <a:solidFill>
                  <a:srgbClr val="1a1d29"/>
                </a:solidFill>
                <a:latin typeface="Calibri"/>
              </a:rPr>
              <a:t>7 page modules under dashboard/pages/</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10b981"/>
                </a:solidFill>
                <a:latin typeface="Calibri"/>
              </a:rPr>
              <a:t>▎ </a:t>
            </a:r>
            <a:r>
              <a:rPr b="0" lang="en-US" sz="1200" spc="-1" strike="noStrike">
                <a:solidFill>
                  <a:srgbClr val="1a1d29"/>
                </a:solidFill>
                <a:latin typeface="Calibri"/>
              </a:rPr>
              <a:t>Sidebar filter module (filters.py)</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10b981"/>
                </a:solidFill>
                <a:latin typeface="Calibri"/>
              </a:rPr>
              <a:t>▎ </a:t>
            </a:r>
            <a:r>
              <a:rPr b="0" lang="en-US" sz="1200" spc="-1" strike="noStrike">
                <a:solidFill>
                  <a:srgbClr val="1a1d29"/>
                </a:solidFill>
                <a:latin typeface="Calibri"/>
              </a:rPr>
              <a:t>Metrics layer (metrics.py): 6 functions</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10b981"/>
                </a:solidFill>
                <a:latin typeface="Calibri"/>
              </a:rPr>
              <a:t>▎ </a:t>
            </a:r>
            <a:r>
              <a:rPr b="0" lang="en-US" sz="1200" spc="-1" strike="noStrike">
                <a:solidFill>
                  <a:srgbClr val="1a1d29"/>
                </a:solidFill>
                <a:latin typeface="Calibri"/>
              </a:rPr>
              <a:t>Cached data loader (st.cache_data)</a:t>
            </a:r>
            <a:endParaRPr b="0" lang="en-US" sz="1200" spc="-1" strike="noStrike">
              <a:solidFill>
                <a:srgbClr val="000000"/>
              </a:solidFill>
              <a:latin typeface="Arial"/>
            </a:endParaRPr>
          </a:p>
        </p:txBody>
      </p:sp>
      <p:sp>
        <p:nvSpPr>
          <p:cNvPr id="115" name="Rectangle 9"/>
          <p:cNvSpPr/>
          <p:nvPr/>
        </p:nvSpPr>
        <p:spPr>
          <a:xfrm>
            <a:off x="4343400" y="1828800"/>
            <a:ext cx="3748680" cy="502560"/>
          </a:xfrm>
          <a:prstGeom prst="rect">
            <a:avLst/>
          </a:prstGeom>
          <a:solidFill>
            <a:srgbClr val="4a9e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6" name="TextBox 10"/>
          <p:cNvSpPr/>
          <p:nvPr/>
        </p:nvSpPr>
        <p:spPr>
          <a:xfrm>
            <a:off x="4526280" y="1983600"/>
            <a:ext cx="3382920" cy="229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500" spc="-1" strike="noStrike">
                <a:solidFill>
                  <a:srgbClr val="ffffff"/>
                </a:solidFill>
                <a:latin typeface="Calibri"/>
              </a:rPr>
              <a:t>New data shape</a:t>
            </a:r>
            <a:endParaRPr b="0" lang="en-US" sz="1500" spc="-1" strike="noStrike">
              <a:solidFill>
                <a:srgbClr val="000000"/>
              </a:solidFill>
              <a:latin typeface="Arial"/>
            </a:endParaRPr>
          </a:p>
        </p:txBody>
      </p:sp>
      <p:sp>
        <p:nvSpPr>
          <p:cNvPr id="117" name="Rectangle 11"/>
          <p:cNvSpPr/>
          <p:nvPr/>
        </p:nvSpPr>
        <p:spPr>
          <a:xfrm>
            <a:off x="4343400" y="2331720"/>
            <a:ext cx="3748680" cy="402300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8" name="TextBox 12"/>
          <p:cNvSpPr/>
          <p:nvPr/>
        </p:nvSpPr>
        <p:spPr>
          <a:xfrm>
            <a:off x="4572000" y="2468880"/>
            <a:ext cx="3291480" cy="2134440"/>
          </a:xfrm>
          <a:prstGeom prst="rect">
            <a:avLst/>
          </a:prstGeom>
          <a:noFill/>
          <a:ln w="0">
            <a:noFill/>
          </a:ln>
        </p:spPr>
        <p:style>
          <a:lnRef idx="0"/>
          <a:fillRef idx="0"/>
          <a:effectRef idx="0"/>
          <a:fontRef idx="minor"/>
        </p:style>
        <p:txBody>
          <a:bodyPr lIns="0" rIns="0" tIns="0" bIns="0" anchor="t">
            <a:spAutoFit/>
          </a:bodyPr>
          <a:p>
            <a:pPr defTabSz="457200">
              <a:lnSpc>
                <a:spcPct val="125000"/>
              </a:lnSpc>
              <a:spcAft>
                <a:spcPts val="601"/>
              </a:spcAft>
            </a:pPr>
            <a:r>
              <a:rPr b="1" lang="en-US" sz="1200" spc="-1" strike="noStrike">
                <a:solidFill>
                  <a:srgbClr val="4a9eff"/>
                </a:solidFill>
                <a:latin typeface="Calibri"/>
              </a:rPr>
              <a:t>▎ </a:t>
            </a:r>
            <a:r>
              <a:rPr b="0" lang="en-US" sz="1200" spc="-1" strike="noStrike">
                <a:solidFill>
                  <a:srgbClr val="1a1d29"/>
                </a:solidFill>
                <a:latin typeface="Calibri"/>
              </a:rPr>
              <a:t>Parallel DataFrame layer for the dashboard</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4a9eff"/>
                </a:solidFill>
                <a:latin typeface="Calibri"/>
              </a:rPr>
              <a:t>▎ </a:t>
            </a:r>
            <a:r>
              <a:rPr b="0" lang="en-US" sz="1200" spc="-1" strike="noStrike">
                <a:solidFill>
                  <a:srgbClr val="1a1d29"/>
                </a:solidFill>
                <a:latin typeface="Calibri"/>
              </a:rPr>
              <a:t>build_issues_dataframe / build_events_dataframe</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4a9eff"/>
                </a:solidFill>
                <a:latin typeface="Calibri"/>
              </a:rPr>
              <a:t>▎ </a:t>
            </a:r>
            <a:r>
              <a:rPr b="0" lang="en-US" sz="1200" spc="-1" strike="noStrike">
                <a:solidFill>
                  <a:srgbClr val="1a1d29"/>
                </a:solidFill>
                <a:latin typeface="Calibri"/>
              </a:rPr>
              <a:t>add_computed_columns produces 6 derived fields</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4a9eff"/>
                </a:solidFill>
                <a:latin typeface="Calibri"/>
              </a:rPr>
              <a:t>▎ </a:t>
            </a:r>
            <a:r>
              <a:rPr b="0" lang="en-US" sz="1200" spc="-1" strike="noStrike">
                <a:solidFill>
                  <a:srgbClr val="1a1d29"/>
                </a:solidFill>
                <a:latin typeface="Calibri"/>
              </a:rPr>
              <a:t>Object model still used by the CLI features</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4a9eff"/>
                </a:solidFill>
                <a:latin typeface="Calibri"/>
              </a:rPr>
              <a:t>▎ </a:t>
            </a:r>
            <a:r>
              <a:rPr b="0" lang="en-US" sz="1200" spc="-1" strike="noStrike">
                <a:solidFill>
                  <a:srgbClr val="1a1d29"/>
                </a:solidFill>
                <a:latin typeface="Calibri"/>
              </a:rPr>
              <a:t>Two shapes coexist: traversal vs. aggregation</a:t>
            </a:r>
            <a:endParaRPr b="0" lang="en-US" sz="1200" spc="-1" strike="noStrike">
              <a:solidFill>
                <a:srgbClr val="000000"/>
              </a:solidFill>
              <a:latin typeface="Arial"/>
            </a:endParaRPr>
          </a:p>
        </p:txBody>
      </p:sp>
      <p:sp>
        <p:nvSpPr>
          <p:cNvPr id="119" name="Rectangle 13"/>
          <p:cNvSpPr/>
          <p:nvPr/>
        </p:nvSpPr>
        <p:spPr>
          <a:xfrm>
            <a:off x="8229600" y="1828800"/>
            <a:ext cx="3748680" cy="502560"/>
          </a:xfrm>
          <a:prstGeom prst="rect">
            <a:avLst/>
          </a:prstGeom>
          <a:solidFill>
            <a:srgbClr val="f59e0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0" name="TextBox 14"/>
          <p:cNvSpPr/>
          <p:nvPr/>
        </p:nvSpPr>
        <p:spPr>
          <a:xfrm>
            <a:off x="8412480" y="1983600"/>
            <a:ext cx="3382920" cy="22932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1" lang="en-US" sz="1500" spc="-1" strike="noStrike">
                <a:solidFill>
                  <a:srgbClr val="ffffff"/>
                </a:solidFill>
                <a:latin typeface="Calibri"/>
              </a:rPr>
              <a:t>New concepts</a:t>
            </a:r>
            <a:endParaRPr b="0" lang="en-US" sz="1500" spc="-1" strike="noStrike">
              <a:solidFill>
                <a:srgbClr val="000000"/>
              </a:solidFill>
              <a:latin typeface="Arial"/>
            </a:endParaRPr>
          </a:p>
        </p:txBody>
      </p:sp>
      <p:sp>
        <p:nvSpPr>
          <p:cNvPr id="121" name="Rectangle 15"/>
          <p:cNvSpPr/>
          <p:nvPr/>
        </p:nvSpPr>
        <p:spPr>
          <a:xfrm>
            <a:off x="8229600" y="2331720"/>
            <a:ext cx="3748680" cy="402300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2" name="TextBox 16"/>
          <p:cNvSpPr/>
          <p:nvPr/>
        </p:nvSpPr>
        <p:spPr>
          <a:xfrm>
            <a:off x="8458200" y="2468880"/>
            <a:ext cx="3291480" cy="2134440"/>
          </a:xfrm>
          <a:prstGeom prst="rect">
            <a:avLst/>
          </a:prstGeom>
          <a:noFill/>
          <a:ln w="0">
            <a:noFill/>
          </a:ln>
        </p:spPr>
        <p:style>
          <a:lnRef idx="0"/>
          <a:fillRef idx="0"/>
          <a:effectRef idx="0"/>
          <a:fontRef idx="minor"/>
        </p:style>
        <p:txBody>
          <a:bodyPr lIns="0" rIns="0" tIns="0" bIns="0" anchor="t">
            <a:spAutoFit/>
          </a:bodyPr>
          <a:p>
            <a:pPr defTabSz="457200">
              <a:lnSpc>
                <a:spcPct val="125000"/>
              </a:lnSpc>
              <a:spcAft>
                <a:spcPts val="601"/>
              </a:spcAft>
            </a:pPr>
            <a:r>
              <a:rPr b="1" lang="en-US" sz="1200" spc="-1" strike="noStrike">
                <a:solidFill>
                  <a:srgbClr val="f59e0b"/>
                </a:solidFill>
                <a:latin typeface="Calibri"/>
              </a:rPr>
              <a:t>▎ </a:t>
            </a:r>
            <a:r>
              <a:rPr b="0" lang="en-US" sz="1200" spc="-1" strike="noStrike">
                <a:solidFill>
                  <a:srgbClr val="1a1d29"/>
                </a:solidFill>
                <a:latin typeface="Calibri"/>
              </a:rPr>
              <a:t>Staleness buckets: Active / Aging / Stale / Zombie</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f59e0b"/>
                </a:solidFill>
                <a:latin typeface="Calibri"/>
              </a:rPr>
              <a:t>▎ </a:t>
            </a:r>
            <a:r>
              <a:rPr b="0" lang="en-US" sz="1200" spc="-1" strike="noStrike">
                <a:solidFill>
                  <a:srgbClr val="1a1d29"/>
                </a:solidFill>
                <a:latin typeface="Calibri"/>
              </a:rPr>
              <a:t>time_to_first_response, time_to_first_label</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f59e0b"/>
                </a:solidFill>
                <a:latin typeface="Calibri"/>
              </a:rPr>
              <a:t>▎ </a:t>
            </a:r>
            <a:r>
              <a:rPr b="0" lang="en-US" sz="1200" spc="-1" strike="noStrike">
                <a:solidFill>
                  <a:srgbClr val="1a1d29"/>
                </a:solidFill>
                <a:latin typeface="Calibri"/>
              </a:rPr>
              <a:t>Label co-occurrence pairs + label growth %</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f59e0b"/>
                </a:solidFill>
                <a:latin typeface="Calibri"/>
              </a:rPr>
              <a:t>▎ </a:t>
            </a:r>
            <a:r>
              <a:rPr b="0" lang="en-US" sz="1200" spc="-1" strike="noStrike">
                <a:solidFill>
                  <a:srgbClr val="1a1d29"/>
                </a:solidFill>
                <a:latin typeface="Calibri"/>
              </a:rPr>
              <a:t>New vs returning contributors (90-day window)</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f59e0b"/>
                </a:solidFill>
                <a:latin typeface="Calibri"/>
              </a:rPr>
              <a:t>▎ </a:t>
            </a:r>
            <a:r>
              <a:rPr b="0" lang="en-US" sz="1200" spc="-1" strike="noStrike">
                <a:solidFill>
                  <a:srgbClr val="1a1d29"/>
                </a:solidFill>
                <a:latin typeface="Calibri"/>
              </a:rPr>
              <a:t>Reopen rate, monthly net-open, attention list</a:t>
            </a:r>
            <a:endParaRPr b="0" lang="en-US" sz="1200" spc="-1" strike="noStrike">
              <a:solidFill>
                <a:srgbClr val="000000"/>
              </a:solidFill>
              <a:latin typeface="Arial"/>
            </a:endParaRPr>
          </a:p>
        </p:txBody>
      </p:sp>
      <p:sp>
        <p:nvSpPr>
          <p:cNvPr id="123" name="Rectangle 17"/>
          <p:cNvSpPr/>
          <p:nvPr/>
        </p:nvSpPr>
        <p:spPr>
          <a:xfrm>
            <a:off x="0" y="6446520"/>
            <a:ext cx="12191400" cy="4111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4" name="TextBox 18"/>
          <p:cNvSpPr/>
          <p:nvPr/>
        </p:nvSpPr>
        <p:spPr>
          <a:xfrm>
            <a:off x="457200" y="6580080"/>
            <a:ext cx="7314840" cy="1533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pc="-1" strike="noStrike">
                <a:solidFill>
                  <a:srgbClr val="4b5563"/>
                </a:solidFill>
                <a:latin typeface="Calibri"/>
              </a:rPr>
              <a:t>ENPM611 — Poetry Issues Analytics — Team: Collins, Hunt, Shah</a:t>
            </a:r>
            <a:endParaRPr b="0" lang="en-US" sz="1000" spc="-1" strike="noStrike">
              <a:solidFill>
                <a:srgbClr val="000000"/>
              </a:solidFill>
              <a:latin typeface="Arial"/>
            </a:endParaRPr>
          </a:p>
        </p:txBody>
      </p:sp>
      <p:sp>
        <p:nvSpPr>
          <p:cNvPr id="125" name="TextBox 19"/>
          <p:cNvSpPr/>
          <p:nvPr/>
        </p:nvSpPr>
        <p:spPr>
          <a:xfrm>
            <a:off x="7772400" y="6580080"/>
            <a:ext cx="274284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pc="-1" strike="noStrike">
                <a:solidFill>
                  <a:srgbClr val="4b5563"/>
                </a:solidFill>
                <a:latin typeface="Calibri"/>
              </a:rPr>
              <a:t>DESIGN</a:t>
            </a:r>
            <a:endParaRPr b="0" lang="en-US" sz="1000" spc="-1" strike="noStrike">
              <a:solidFill>
                <a:srgbClr val="000000"/>
              </a:solidFill>
              <a:latin typeface="Arial"/>
            </a:endParaRPr>
          </a:p>
        </p:txBody>
      </p:sp>
      <p:sp>
        <p:nvSpPr>
          <p:cNvPr id="126" name="TextBox 20"/>
          <p:cNvSpPr/>
          <p:nvPr/>
        </p:nvSpPr>
        <p:spPr>
          <a:xfrm>
            <a:off x="10698480" y="6580080"/>
            <a:ext cx="100548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1" lang="en-US" sz="1000" spc="-1" strike="noStrike">
                <a:solidFill>
                  <a:srgbClr val="0f1f3a"/>
                </a:solidFill>
                <a:latin typeface="Calibri"/>
              </a:rPr>
              <a:t>4 / 12</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Rectangle 1"/>
          <p:cNvSpPr/>
          <p:nvPr/>
        </p:nvSpPr>
        <p:spPr>
          <a:xfrm>
            <a:off x="0" y="0"/>
            <a:ext cx="12191400" cy="502560"/>
          </a:xfrm>
          <a:prstGeom prst="rect">
            <a:avLst/>
          </a:prstGeom>
          <a:solidFill>
            <a:srgbClr val="0f1f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8" name="TextBox 2"/>
          <p:cNvSpPr/>
          <p:nvPr/>
        </p:nvSpPr>
        <p:spPr>
          <a:xfrm>
            <a:off x="457200" y="640080"/>
            <a:ext cx="11246760" cy="457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3000" spc="-1" strike="noStrike">
                <a:solidFill>
                  <a:srgbClr val="0f1f3a"/>
                </a:solidFill>
                <a:latin typeface="Calibri"/>
              </a:rPr>
              <a:t>Why we didn't foresee these aspects</a:t>
            </a:r>
            <a:endParaRPr b="0" lang="en-US" sz="3000" spc="-1" strike="noStrike">
              <a:solidFill>
                <a:srgbClr val="000000"/>
              </a:solidFill>
              <a:latin typeface="Arial"/>
            </a:endParaRPr>
          </a:p>
        </p:txBody>
      </p:sp>
      <p:sp>
        <p:nvSpPr>
          <p:cNvPr id="129" name="TextBox 3"/>
          <p:cNvSpPr/>
          <p:nvPr/>
        </p:nvSpPr>
        <p:spPr>
          <a:xfrm>
            <a:off x="457200" y="1115640"/>
            <a:ext cx="1124676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500" spc="-1" strike="noStrike">
                <a:solidFill>
                  <a:srgbClr val="4b5563"/>
                </a:solidFill>
                <a:latin typeface="Calibri"/>
              </a:rPr>
              <a:t>Three honest answers — and the lesson behind each</a:t>
            </a:r>
            <a:endParaRPr b="0" lang="en-US" sz="1500" spc="-1" strike="noStrike">
              <a:solidFill>
                <a:srgbClr val="000000"/>
              </a:solidFill>
              <a:latin typeface="Arial"/>
            </a:endParaRPr>
          </a:p>
        </p:txBody>
      </p:sp>
      <p:sp>
        <p:nvSpPr>
          <p:cNvPr id="130" name="Rectangle 4"/>
          <p:cNvSpPr/>
          <p:nvPr/>
        </p:nvSpPr>
        <p:spPr>
          <a:xfrm>
            <a:off x="457200" y="1554480"/>
            <a:ext cx="11246760" cy="1476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9880" bIns="-29880" anchor="ctr">
            <a:noAutofit/>
          </a:bodyPr>
          <a:p>
            <a:pPr algn="ctr" defTabSz="457200">
              <a:lnSpc>
                <a:spcPct val="100000"/>
              </a:lnSpc>
            </a:pPr>
            <a:endParaRPr b="0" lang="en-US" sz="1800" spc="-1" strike="noStrike">
              <a:solidFill>
                <a:schemeClr val="lt1"/>
              </a:solidFill>
              <a:latin typeface="Calibri"/>
            </a:endParaRPr>
          </a:p>
        </p:txBody>
      </p:sp>
      <p:sp>
        <p:nvSpPr>
          <p:cNvPr id="131" name="Rectangle 5"/>
          <p:cNvSpPr/>
          <p:nvPr/>
        </p:nvSpPr>
        <p:spPr>
          <a:xfrm>
            <a:off x="457200" y="1828800"/>
            <a:ext cx="63720" cy="1325520"/>
          </a:xfrm>
          <a:prstGeom prst="rect">
            <a:avLst/>
          </a:prstGeom>
          <a:solidFill>
            <a:srgbClr val="10b98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2" name="TextBox 6"/>
          <p:cNvSpPr/>
          <p:nvPr/>
        </p:nvSpPr>
        <p:spPr>
          <a:xfrm>
            <a:off x="640080" y="1828800"/>
            <a:ext cx="1115532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500" spc="-1" strike="noStrike">
                <a:solidFill>
                  <a:srgbClr val="0f1f3a"/>
                </a:solidFill>
                <a:latin typeface="Calibri"/>
              </a:rPr>
              <a:t>1. Design ceremony stopped at the data model.</a:t>
            </a:r>
            <a:endParaRPr b="0" lang="en-US" sz="1500" spc="-1" strike="noStrike">
              <a:solidFill>
                <a:srgbClr val="000000"/>
              </a:solidFill>
              <a:latin typeface="Arial"/>
            </a:endParaRPr>
          </a:p>
        </p:txBody>
      </p:sp>
      <p:sp>
        <p:nvSpPr>
          <p:cNvPr id="133" name="TextBox 7"/>
          <p:cNvSpPr/>
          <p:nvPr/>
        </p:nvSpPr>
        <p:spPr>
          <a:xfrm>
            <a:off x="640080" y="2212920"/>
            <a:ext cx="11155320" cy="351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150" spc="-1" strike="noStrike">
                <a:solidFill>
                  <a:srgbClr val="1a1d29"/>
                </a:solidFill>
                <a:latin typeface="Calibri"/>
              </a:rPr>
              <a:t>Milestone 1 asked for entity relationships and class structure, so we delivered exactly that. We never asked the next question — "what would users actually want to see?" — until we started building.</a:t>
            </a:r>
            <a:endParaRPr b="0" lang="en-US" sz="1150" spc="-1" strike="noStrike">
              <a:solidFill>
                <a:srgbClr val="000000"/>
              </a:solidFill>
              <a:latin typeface="Arial"/>
            </a:endParaRPr>
          </a:p>
        </p:txBody>
      </p:sp>
      <p:sp>
        <p:nvSpPr>
          <p:cNvPr id="134" name="TextBox 8"/>
          <p:cNvSpPr/>
          <p:nvPr/>
        </p:nvSpPr>
        <p:spPr>
          <a:xfrm>
            <a:off x="640080" y="2788920"/>
            <a:ext cx="11155320" cy="1756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50" spc="-1" strike="noStrike">
                <a:solidFill>
                  <a:srgbClr val="10b981"/>
                </a:solidFill>
                <a:latin typeface="Calibri"/>
              </a:rPr>
              <a:t>→ </a:t>
            </a:r>
            <a:r>
              <a:rPr b="1" lang="en-US" sz="1150" spc="-1" strike="noStrike">
                <a:solidFill>
                  <a:srgbClr val="10b981"/>
                </a:solidFill>
                <a:latin typeface="Calibri"/>
              </a:rPr>
              <a:t>Lesson: a data-model diagram is necessary but not sufficient. Even a single sketched mockup would have surfaced the dashboard need months earlier.</a:t>
            </a:r>
            <a:endParaRPr b="0" lang="en-US" sz="1150" spc="-1" strike="noStrike">
              <a:solidFill>
                <a:srgbClr val="000000"/>
              </a:solidFill>
              <a:latin typeface="Arial"/>
            </a:endParaRPr>
          </a:p>
        </p:txBody>
      </p:sp>
      <p:sp>
        <p:nvSpPr>
          <p:cNvPr id="135" name="Rectangle 9"/>
          <p:cNvSpPr/>
          <p:nvPr/>
        </p:nvSpPr>
        <p:spPr>
          <a:xfrm>
            <a:off x="457200" y="3337560"/>
            <a:ext cx="63720" cy="1325520"/>
          </a:xfrm>
          <a:prstGeom prst="rect">
            <a:avLst/>
          </a:prstGeom>
          <a:solidFill>
            <a:srgbClr val="10b98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6" name="TextBox 10"/>
          <p:cNvSpPr/>
          <p:nvPr/>
        </p:nvSpPr>
        <p:spPr>
          <a:xfrm>
            <a:off x="640080" y="3337560"/>
            <a:ext cx="1115532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500" spc="-1" strike="noStrike">
                <a:solidFill>
                  <a:srgbClr val="0f1f3a"/>
                </a:solidFill>
                <a:latin typeface="Calibri"/>
              </a:rPr>
              <a:t>2. We picked the wrong data shape for visualization.</a:t>
            </a:r>
            <a:endParaRPr b="0" lang="en-US" sz="1500" spc="-1" strike="noStrike">
              <a:solidFill>
                <a:srgbClr val="000000"/>
              </a:solidFill>
              <a:latin typeface="Arial"/>
            </a:endParaRPr>
          </a:p>
        </p:txBody>
      </p:sp>
      <p:sp>
        <p:nvSpPr>
          <p:cNvPr id="137" name="TextBox 11"/>
          <p:cNvSpPr/>
          <p:nvPr/>
        </p:nvSpPr>
        <p:spPr>
          <a:xfrm>
            <a:off x="640080" y="3721680"/>
            <a:ext cx="11155320" cy="351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150" spc="-1" strike="noStrike">
                <a:solidFill>
                  <a:srgbClr val="1a1d29"/>
                </a:solidFill>
                <a:latin typeface="Calibri"/>
              </a:rPr>
              <a:t>Object models are great for traversal: "give me every event on this issue." But the dashboard's questions are aggregations: "what fraction of issues are stale, grouped by month?" We didn't realize until prototyping that those questions are 10× easier on a DataFrame.</a:t>
            </a:r>
            <a:endParaRPr b="0" lang="en-US" sz="1150" spc="-1" strike="noStrike">
              <a:solidFill>
                <a:srgbClr val="000000"/>
              </a:solidFill>
              <a:latin typeface="Arial"/>
            </a:endParaRPr>
          </a:p>
        </p:txBody>
      </p:sp>
      <p:sp>
        <p:nvSpPr>
          <p:cNvPr id="138" name="TextBox 12"/>
          <p:cNvSpPr/>
          <p:nvPr/>
        </p:nvSpPr>
        <p:spPr>
          <a:xfrm>
            <a:off x="640080" y="4297680"/>
            <a:ext cx="11155320" cy="1756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50" spc="-1" strike="noStrike">
                <a:solidFill>
                  <a:srgbClr val="10b981"/>
                </a:solidFill>
                <a:latin typeface="Calibri"/>
              </a:rPr>
              <a:t>→ </a:t>
            </a:r>
            <a:r>
              <a:rPr b="1" lang="en-US" sz="1150" spc="-1" strike="noStrike">
                <a:solidFill>
                  <a:srgbClr val="10b981"/>
                </a:solidFill>
                <a:latin typeface="Calibri"/>
              </a:rPr>
              <a:t>Lesson: the right data structure is determined by the access pattern, not by the source format.</a:t>
            </a:r>
            <a:endParaRPr b="0" lang="en-US" sz="1150" spc="-1" strike="noStrike">
              <a:solidFill>
                <a:srgbClr val="000000"/>
              </a:solidFill>
              <a:latin typeface="Arial"/>
            </a:endParaRPr>
          </a:p>
        </p:txBody>
      </p:sp>
      <p:sp>
        <p:nvSpPr>
          <p:cNvPr id="139" name="Rectangle 13"/>
          <p:cNvSpPr/>
          <p:nvPr/>
        </p:nvSpPr>
        <p:spPr>
          <a:xfrm>
            <a:off x="457200" y="4846320"/>
            <a:ext cx="63720" cy="1325520"/>
          </a:xfrm>
          <a:prstGeom prst="rect">
            <a:avLst/>
          </a:prstGeom>
          <a:solidFill>
            <a:srgbClr val="10b98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0" name="TextBox 14"/>
          <p:cNvSpPr/>
          <p:nvPr/>
        </p:nvSpPr>
        <p:spPr>
          <a:xfrm>
            <a:off x="640080" y="4846320"/>
            <a:ext cx="1115532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500" spc="-1" strike="noStrike">
                <a:solidFill>
                  <a:srgbClr val="0f1f3a"/>
                </a:solidFill>
                <a:latin typeface="Calibri"/>
              </a:rPr>
              <a:t>3. Derived metrics emerged from looking at real data.</a:t>
            </a:r>
            <a:endParaRPr b="0" lang="en-US" sz="1500" spc="-1" strike="noStrike">
              <a:solidFill>
                <a:srgbClr val="000000"/>
              </a:solidFill>
              <a:latin typeface="Arial"/>
            </a:endParaRPr>
          </a:p>
        </p:txBody>
      </p:sp>
      <p:sp>
        <p:nvSpPr>
          <p:cNvPr id="141" name="TextBox 15"/>
          <p:cNvSpPr/>
          <p:nvPr/>
        </p:nvSpPr>
        <p:spPr>
          <a:xfrm>
            <a:off x="640080" y="5230440"/>
            <a:ext cx="11155320" cy="351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150" spc="-1" strike="noStrike">
                <a:solidFill>
                  <a:srgbClr val="1a1d29"/>
                </a:solidFill>
                <a:latin typeface="Calibri"/>
              </a:rPr>
              <a:t>Staleness buckets, label-growth %, and the bug:feature ratio all came from staring at outputs and asking "so what?" None of them are obvious from the JSON schema.</a:t>
            </a:r>
            <a:endParaRPr b="0" lang="en-US" sz="1150" spc="-1" strike="noStrike">
              <a:solidFill>
                <a:srgbClr val="000000"/>
              </a:solidFill>
              <a:latin typeface="Arial"/>
            </a:endParaRPr>
          </a:p>
        </p:txBody>
      </p:sp>
      <p:sp>
        <p:nvSpPr>
          <p:cNvPr id="142" name="TextBox 16"/>
          <p:cNvSpPr/>
          <p:nvPr/>
        </p:nvSpPr>
        <p:spPr>
          <a:xfrm>
            <a:off x="640080" y="5806440"/>
            <a:ext cx="11155320" cy="1756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50" spc="-1" strike="noStrike">
                <a:solidFill>
                  <a:srgbClr val="10b981"/>
                </a:solidFill>
                <a:latin typeface="Calibri"/>
              </a:rPr>
              <a:t>→ </a:t>
            </a:r>
            <a:r>
              <a:rPr b="1" lang="en-US" sz="1150" spc="-1" strike="noStrike">
                <a:solidFill>
                  <a:srgbClr val="10b981"/>
                </a:solidFill>
                <a:latin typeface="Calibri"/>
              </a:rPr>
              <a:t>Lesson: meaningful KPIs are an output of the build process, not a precondition for it.</a:t>
            </a:r>
            <a:endParaRPr b="0" lang="en-US" sz="1150" spc="-1" strike="noStrike">
              <a:solidFill>
                <a:srgbClr val="000000"/>
              </a:solidFill>
              <a:latin typeface="Arial"/>
            </a:endParaRPr>
          </a:p>
        </p:txBody>
      </p:sp>
      <p:sp>
        <p:nvSpPr>
          <p:cNvPr id="143" name="Rectangle 17"/>
          <p:cNvSpPr/>
          <p:nvPr/>
        </p:nvSpPr>
        <p:spPr>
          <a:xfrm>
            <a:off x="0" y="6446520"/>
            <a:ext cx="12191400" cy="4111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4" name="TextBox 18"/>
          <p:cNvSpPr/>
          <p:nvPr/>
        </p:nvSpPr>
        <p:spPr>
          <a:xfrm>
            <a:off x="457200" y="6580080"/>
            <a:ext cx="7314840" cy="1533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pc="-1" strike="noStrike">
                <a:solidFill>
                  <a:srgbClr val="4b5563"/>
                </a:solidFill>
                <a:latin typeface="Calibri"/>
              </a:rPr>
              <a:t>ENPM611 — Poetry Issues Analytics — Team: Collins, Hunt, Shah</a:t>
            </a:r>
            <a:endParaRPr b="0" lang="en-US" sz="1000" spc="-1" strike="noStrike">
              <a:solidFill>
                <a:srgbClr val="000000"/>
              </a:solidFill>
              <a:latin typeface="Arial"/>
            </a:endParaRPr>
          </a:p>
        </p:txBody>
      </p:sp>
      <p:sp>
        <p:nvSpPr>
          <p:cNvPr id="145" name="TextBox 19"/>
          <p:cNvSpPr/>
          <p:nvPr/>
        </p:nvSpPr>
        <p:spPr>
          <a:xfrm>
            <a:off x="7772400" y="6580080"/>
            <a:ext cx="274284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pc="-1" strike="noStrike">
                <a:solidFill>
                  <a:srgbClr val="4b5563"/>
                </a:solidFill>
                <a:latin typeface="Calibri"/>
              </a:rPr>
              <a:t>DESIGN</a:t>
            </a:r>
            <a:endParaRPr b="0" lang="en-US" sz="1000" spc="-1" strike="noStrike">
              <a:solidFill>
                <a:srgbClr val="000000"/>
              </a:solidFill>
              <a:latin typeface="Arial"/>
            </a:endParaRPr>
          </a:p>
        </p:txBody>
      </p:sp>
      <p:sp>
        <p:nvSpPr>
          <p:cNvPr id="146" name="TextBox 20"/>
          <p:cNvSpPr/>
          <p:nvPr/>
        </p:nvSpPr>
        <p:spPr>
          <a:xfrm>
            <a:off x="10698480" y="6580080"/>
            <a:ext cx="100548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1" lang="en-US" sz="1000" spc="-1" strike="noStrike">
                <a:solidFill>
                  <a:srgbClr val="0f1f3a"/>
                </a:solidFill>
                <a:latin typeface="Calibri"/>
              </a:rPr>
              <a:t>5 / 12</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 name="Rectangle 1"/>
          <p:cNvSpPr/>
          <p:nvPr/>
        </p:nvSpPr>
        <p:spPr>
          <a:xfrm>
            <a:off x="0" y="0"/>
            <a:ext cx="12191400" cy="502560"/>
          </a:xfrm>
          <a:prstGeom prst="rect">
            <a:avLst/>
          </a:prstGeom>
          <a:solidFill>
            <a:srgbClr val="0f1f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8" name="TextBox 2"/>
          <p:cNvSpPr/>
          <p:nvPr/>
        </p:nvSpPr>
        <p:spPr>
          <a:xfrm>
            <a:off x="457200" y="640080"/>
            <a:ext cx="11246760" cy="457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3000" spc="-1" strike="noStrike">
                <a:solidFill>
                  <a:srgbClr val="0f1f3a"/>
                </a:solidFill>
                <a:latin typeface="Calibri"/>
              </a:rPr>
              <a:t>Testing strategy</a:t>
            </a:r>
            <a:endParaRPr b="0" lang="en-US" sz="3000" spc="-1" strike="noStrike">
              <a:solidFill>
                <a:srgbClr val="000000"/>
              </a:solidFill>
              <a:latin typeface="Arial"/>
            </a:endParaRPr>
          </a:p>
        </p:txBody>
      </p:sp>
      <p:sp>
        <p:nvSpPr>
          <p:cNvPr id="149" name="TextBox 3"/>
          <p:cNvSpPr/>
          <p:nvPr/>
        </p:nvSpPr>
        <p:spPr>
          <a:xfrm>
            <a:off x="457200" y="1115640"/>
            <a:ext cx="1124676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500" spc="-1" strike="noStrike">
                <a:solidFill>
                  <a:srgbClr val="4b5563"/>
                </a:solidFill>
                <a:latin typeface="Calibri"/>
              </a:rPr>
              <a:t>Synthetic fixtures + a mocked Streamlit module — not trial and error</a:t>
            </a:r>
            <a:endParaRPr b="0" lang="en-US" sz="1500" spc="-1" strike="noStrike">
              <a:solidFill>
                <a:srgbClr val="000000"/>
              </a:solidFill>
              <a:latin typeface="Arial"/>
            </a:endParaRPr>
          </a:p>
        </p:txBody>
      </p:sp>
      <p:sp>
        <p:nvSpPr>
          <p:cNvPr id="150" name="Rectangle 4"/>
          <p:cNvSpPr/>
          <p:nvPr/>
        </p:nvSpPr>
        <p:spPr>
          <a:xfrm>
            <a:off x="457200" y="1554480"/>
            <a:ext cx="11246760" cy="1476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9880" bIns="-29880" anchor="ctr">
            <a:noAutofit/>
          </a:bodyPr>
          <a:p>
            <a:pPr algn="ctr" defTabSz="457200">
              <a:lnSpc>
                <a:spcPct val="100000"/>
              </a:lnSpc>
            </a:pPr>
            <a:endParaRPr b="0" lang="en-US" sz="1800" spc="-1" strike="noStrike">
              <a:solidFill>
                <a:schemeClr val="lt1"/>
              </a:solidFill>
              <a:latin typeface="Calibri"/>
            </a:endParaRPr>
          </a:p>
        </p:txBody>
      </p:sp>
      <p:sp>
        <p:nvSpPr>
          <p:cNvPr id="151" name="TextBox 5"/>
          <p:cNvSpPr/>
          <p:nvPr/>
        </p:nvSpPr>
        <p:spPr>
          <a:xfrm>
            <a:off x="457200" y="1828800"/>
            <a:ext cx="566892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f1f3a"/>
                </a:solidFill>
                <a:latin typeface="Calibri"/>
              </a:rPr>
              <a:t>Coverage by layer</a:t>
            </a:r>
            <a:endParaRPr b="0" lang="en-US" sz="1400" spc="-1" strike="noStrike">
              <a:solidFill>
                <a:srgbClr val="000000"/>
              </a:solidFill>
              <a:latin typeface="Arial"/>
            </a:endParaRPr>
          </a:p>
        </p:txBody>
      </p:sp>
      <p:sp>
        <p:nvSpPr>
          <p:cNvPr id="152" name="Rectangle 6"/>
          <p:cNvSpPr/>
          <p:nvPr/>
        </p:nvSpPr>
        <p:spPr>
          <a:xfrm>
            <a:off x="457200" y="2286000"/>
            <a:ext cx="91080" cy="1051200"/>
          </a:xfrm>
          <a:prstGeom prst="rect">
            <a:avLst/>
          </a:prstGeom>
          <a:solidFill>
            <a:srgbClr val="10b98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3" name="TextBox 7"/>
          <p:cNvSpPr/>
          <p:nvPr/>
        </p:nvSpPr>
        <p:spPr>
          <a:xfrm>
            <a:off x="640080" y="2286000"/>
            <a:ext cx="548604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f1f3a"/>
                </a:solidFill>
                <a:latin typeface="Calibri"/>
              </a:rPr>
              <a:t>Pages (7 modules)</a:t>
            </a:r>
            <a:endParaRPr b="0" lang="en-US" sz="1400" spc="-1" strike="noStrike">
              <a:solidFill>
                <a:srgbClr val="000000"/>
              </a:solidFill>
              <a:latin typeface="Arial"/>
            </a:endParaRPr>
          </a:p>
        </p:txBody>
      </p:sp>
      <p:sp>
        <p:nvSpPr>
          <p:cNvPr id="154" name="TextBox 8"/>
          <p:cNvSpPr/>
          <p:nvPr/>
        </p:nvSpPr>
        <p:spPr>
          <a:xfrm>
            <a:off x="640080" y="2697480"/>
            <a:ext cx="5486040" cy="351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150" spc="-1" strike="noStrike">
                <a:solidFill>
                  <a:srgbClr val="1a1d29"/>
                </a:solidFill>
                <a:latin typeface="Calibri"/>
              </a:rPr>
              <a:t>Loaded via runpy under a mocked streamlit; assert KPI labels, chart counts, guard paths.</a:t>
            </a:r>
            <a:endParaRPr b="0" lang="en-US" sz="1150" spc="-1" strike="noStrike">
              <a:solidFill>
                <a:srgbClr val="000000"/>
              </a:solidFill>
              <a:latin typeface="Arial"/>
            </a:endParaRPr>
          </a:p>
        </p:txBody>
      </p:sp>
      <p:sp>
        <p:nvSpPr>
          <p:cNvPr id="155" name="Rectangle 9"/>
          <p:cNvSpPr/>
          <p:nvPr/>
        </p:nvSpPr>
        <p:spPr>
          <a:xfrm>
            <a:off x="457200" y="3520440"/>
            <a:ext cx="91080" cy="1051200"/>
          </a:xfrm>
          <a:prstGeom prst="rect">
            <a:avLst/>
          </a:prstGeom>
          <a:solidFill>
            <a:srgbClr val="4a9e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6" name="TextBox 10"/>
          <p:cNvSpPr/>
          <p:nvPr/>
        </p:nvSpPr>
        <p:spPr>
          <a:xfrm>
            <a:off x="640080" y="3520440"/>
            <a:ext cx="548604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f1f3a"/>
                </a:solidFill>
                <a:latin typeface="Calibri"/>
              </a:rPr>
              <a:t>Metrics (6 functions)</a:t>
            </a:r>
            <a:endParaRPr b="0" lang="en-US" sz="1400" spc="-1" strike="noStrike">
              <a:solidFill>
                <a:srgbClr val="000000"/>
              </a:solidFill>
              <a:latin typeface="Arial"/>
            </a:endParaRPr>
          </a:p>
        </p:txBody>
      </p:sp>
      <p:sp>
        <p:nvSpPr>
          <p:cNvPr id="157" name="TextBox 11"/>
          <p:cNvSpPr/>
          <p:nvPr/>
        </p:nvSpPr>
        <p:spPr>
          <a:xfrm>
            <a:off x="640080" y="3931920"/>
            <a:ext cx="5486040" cy="351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150" spc="-1" strike="noStrike">
                <a:solidFill>
                  <a:srgbClr val="1a1d29"/>
                </a:solidFill>
                <a:latin typeface="Calibri"/>
              </a:rPr>
              <a:t>Pure functions over fixture DataFrames: triage, contributor, trend, staleness, resolution, label.</a:t>
            </a:r>
            <a:endParaRPr b="0" lang="en-US" sz="1150" spc="-1" strike="noStrike">
              <a:solidFill>
                <a:srgbClr val="000000"/>
              </a:solidFill>
              <a:latin typeface="Arial"/>
            </a:endParaRPr>
          </a:p>
        </p:txBody>
      </p:sp>
      <p:sp>
        <p:nvSpPr>
          <p:cNvPr id="158" name="Rectangle 12"/>
          <p:cNvSpPr/>
          <p:nvPr/>
        </p:nvSpPr>
        <p:spPr>
          <a:xfrm>
            <a:off x="457200" y="4754880"/>
            <a:ext cx="91080" cy="1051200"/>
          </a:xfrm>
          <a:prstGeom prst="rect">
            <a:avLst/>
          </a:prstGeom>
          <a:solidFill>
            <a:srgbClr val="f59e0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9" name="TextBox 13"/>
          <p:cNvSpPr/>
          <p:nvPr/>
        </p:nvSpPr>
        <p:spPr>
          <a:xfrm>
            <a:off x="640080" y="4754880"/>
            <a:ext cx="548604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f1f3a"/>
                </a:solidFill>
                <a:latin typeface="Calibri"/>
              </a:rPr>
              <a:t>Data loader (3 functions)</a:t>
            </a:r>
            <a:endParaRPr b="0" lang="en-US" sz="1400" spc="-1" strike="noStrike">
              <a:solidFill>
                <a:srgbClr val="000000"/>
              </a:solidFill>
              <a:latin typeface="Arial"/>
            </a:endParaRPr>
          </a:p>
        </p:txBody>
      </p:sp>
      <p:sp>
        <p:nvSpPr>
          <p:cNvPr id="160" name="TextBox 14"/>
          <p:cNvSpPr/>
          <p:nvPr/>
        </p:nvSpPr>
        <p:spPr>
          <a:xfrm>
            <a:off x="640080" y="5166360"/>
            <a:ext cx="5486040" cy="351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150" spc="-1" strike="noStrike">
                <a:solidFill>
                  <a:srgbClr val="1a1d29"/>
                </a:solidFill>
                <a:latin typeface="Calibri"/>
              </a:rPr>
              <a:t>build_issues_dataframe, build_events_dataframe, add_computed_columns — verified against handcrafted JSON.</a:t>
            </a:r>
            <a:endParaRPr b="0" lang="en-US" sz="1150" spc="-1" strike="noStrike">
              <a:solidFill>
                <a:srgbClr val="000000"/>
              </a:solidFill>
              <a:latin typeface="Arial"/>
            </a:endParaRPr>
          </a:p>
        </p:txBody>
      </p:sp>
      <p:sp>
        <p:nvSpPr>
          <p:cNvPr id="161" name="TextBox 15"/>
          <p:cNvSpPr/>
          <p:nvPr/>
        </p:nvSpPr>
        <p:spPr>
          <a:xfrm>
            <a:off x="6583680" y="1828800"/>
            <a:ext cx="521172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f1f3a"/>
                </a:solidFill>
                <a:latin typeface="Calibri"/>
              </a:rPr>
              <a:t>Fixtures are deliberate, not random</a:t>
            </a:r>
            <a:endParaRPr b="0" lang="en-US" sz="1400" spc="-1" strike="noStrike">
              <a:solidFill>
                <a:srgbClr val="000000"/>
              </a:solidFill>
              <a:latin typeface="Arial"/>
            </a:endParaRPr>
          </a:p>
        </p:txBody>
      </p:sp>
      <p:sp>
        <p:nvSpPr>
          <p:cNvPr id="162" name="TextBox 16"/>
          <p:cNvSpPr/>
          <p:nvPr/>
        </p:nvSpPr>
        <p:spPr>
          <a:xfrm>
            <a:off x="6583680" y="2240280"/>
            <a:ext cx="5211720" cy="2287080"/>
          </a:xfrm>
          <a:prstGeom prst="rect">
            <a:avLst/>
          </a:prstGeom>
          <a:noFill/>
          <a:ln w="0">
            <a:noFill/>
          </a:ln>
        </p:spPr>
        <p:style>
          <a:lnRef idx="0"/>
          <a:fillRef idx="0"/>
          <a:effectRef idx="0"/>
          <a:fontRef idx="minor"/>
        </p:style>
        <p:txBody>
          <a:bodyPr lIns="0" rIns="0" tIns="0" bIns="0" anchor="t">
            <a:spAutoFit/>
          </a:bodyPr>
          <a:p>
            <a:pPr defTabSz="457200">
              <a:lnSpc>
                <a:spcPct val="125000"/>
              </a:lnSpc>
              <a:spcAft>
                <a:spcPts val="601"/>
              </a:spcAft>
            </a:pPr>
            <a:r>
              <a:rPr b="1" lang="en-US" sz="1200" spc="-1" strike="noStrike">
                <a:solidFill>
                  <a:srgbClr val="10b981"/>
                </a:solidFill>
                <a:latin typeface="Calibri"/>
              </a:rPr>
              <a:t>▎ </a:t>
            </a:r>
            <a:r>
              <a:rPr b="0" lang="en-US" sz="1200" spc="-1" strike="noStrike">
                <a:solidFill>
                  <a:srgbClr val="1a1d29"/>
                </a:solidFill>
                <a:latin typeface="Calibri"/>
              </a:rPr>
              <a:t>sample_issues — 3 issues spanning every interesting axis (state × labels × age × event_count)</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10b981"/>
                </a:solidFill>
                <a:latin typeface="Calibri"/>
              </a:rPr>
              <a:t>▎ </a:t>
            </a:r>
            <a:r>
              <a:rPr b="0" lang="en-US" sz="1200" spc="-1" strike="noStrike">
                <a:solidFill>
                  <a:srgbClr val="1a1d29"/>
                </a:solidFill>
                <a:latin typeface="Calibri"/>
              </a:rPr>
              <a:t>open_only_issues — forces days_to_close = NaN everywhere</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10b981"/>
                </a:solidFill>
                <a:latin typeface="Calibri"/>
              </a:rPr>
              <a:t>▎ </a:t>
            </a:r>
            <a:r>
              <a:rPr b="0" lang="en-US" sz="1200" spc="-1" strike="noStrike">
                <a:solidFill>
                  <a:srgbClr val="1a1d29"/>
                </a:solidFill>
                <a:latin typeface="Calibri"/>
              </a:rPr>
              <a:t>no_response_issues — forces time_to_first_response = NaN</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10b981"/>
                </a:solidFill>
                <a:latin typeface="Calibri"/>
              </a:rPr>
              <a:t>▎ </a:t>
            </a:r>
            <a:r>
              <a:rPr b="0" lang="en-US" sz="1200" spc="-1" strike="noStrike">
                <a:solidFill>
                  <a:srgbClr val="1a1d29"/>
                </a:solidFill>
                <a:latin typeface="Calibri"/>
              </a:rPr>
              <a:t>staleness_issues — one row in each of Active/Aging/Stale/Zombie</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10b981"/>
                </a:solidFill>
                <a:latin typeface="Calibri"/>
              </a:rPr>
              <a:t>▎ </a:t>
            </a:r>
            <a:r>
              <a:rPr b="0" lang="en-US" sz="1200" spc="-1" strike="noStrike">
                <a:solidFill>
                  <a:srgbClr val="1a1d29"/>
                </a:solidFill>
                <a:latin typeface="Calibri"/>
              </a:rPr>
              <a:t>reopen_events — adds a ReopenedEvent so reopen-rate ≠ 0</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10b981"/>
                </a:solidFill>
                <a:latin typeface="Calibri"/>
              </a:rPr>
              <a:t>▎ </a:t>
            </a:r>
            <a:r>
              <a:rPr b="0" lang="en-US" sz="1200" spc="-1" strike="noStrike">
                <a:solidFill>
                  <a:srgbClr val="1a1d29"/>
                </a:solidFill>
                <a:latin typeface="Calibri"/>
              </a:rPr>
              <a:t>multi_label_issues — guarantees co-occurrence pairs</a:t>
            </a:r>
            <a:endParaRPr b="0" lang="en-US" sz="1200" spc="-1" strike="noStrike">
              <a:solidFill>
                <a:srgbClr val="000000"/>
              </a:solidFill>
              <a:latin typeface="Arial"/>
            </a:endParaRPr>
          </a:p>
          <a:p>
            <a:pPr defTabSz="457200">
              <a:lnSpc>
                <a:spcPct val="125000"/>
              </a:lnSpc>
              <a:spcAft>
                <a:spcPts val="601"/>
              </a:spcAft>
            </a:pPr>
            <a:r>
              <a:rPr b="1" lang="en-US" sz="1200" spc="-1" strike="noStrike">
                <a:solidFill>
                  <a:srgbClr val="10b981"/>
                </a:solidFill>
                <a:latin typeface="Calibri"/>
              </a:rPr>
              <a:t>▎ </a:t>
            </a:r>
            <a:r>
              <a:rPr b="0" lang="en-US" sz="1200" spc="-1" strike="noStrike">
                <a:solidFill>
                  <a:srgbClr val="1a1d29"/>
                </a:solidFill>
                <a:latin typeface="Calibri"/>
              </a:rPr>
              <a:t>empty_events — every page must survive an empty events DataFrame</a:t>
            </a:r>
            <a:endParaRPr b="0" lang="en-US" sz="1200" spc="-1" strike="noStrike">
              <a:solidFill>
                <a:srgbClr val="000000"/>
              </a:solidFill>
              <a:latin typeface="Arial"/>
            </a:endParaRPr>
          </a:p>
        </p:txBody>
      </p:sp>
      <p:sp>
        <p:nvSpPr>
          <p:cNvPr id="163" name="TextBox 17"/>
          <p:cNvSpPr/>
          <p:nvPr/>
        </p:nvSpPr>
        <p:spPr>
          <a:xfrm>
            <a:off x="6583680" y="6080760"/>
            <a:ext cx="5211720" cy="351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50" spc="-1" strike="noStrike">
                <a:solidFill>
                  <a:srgbClr val="10b981"/>
                </a:solidFill>
                <a:latin typeface="Calibri"/>
              </a:rPr>
              <a:t>Strategy: pick fixtures that exercise each branch — not throw data at the wall.</a:t>
            </a:r>
            <a:endParaRPr b="0" lang="en-US" sz="1150" spc="-1" strike="noStrike">
              <a:solidFill>
                <a:srgbClr val="000000"/>
              </a:solidFill>
              <a:latin typeface="Arial"/>
            </a:endParaRPr>
          </a:p>
        </p:txBody>
      </p:sp>
      <p:sp>
        <p:nvSpPr>
          <p:cNvPr id="164" name="Rectangle 18"/>
          <p:cNvSpPr/>
          <p:nvPr/>
        </p:nvSpPr>
        <p:spPr>
          <a:xfrm>
            <a:off x="0" y="6446520"/>
            <a:ext cx="12191400" cy="4111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5" name="TextBox 19"/>
          <p:cNvSpPr/>
          <p:nvPr/>
        </p:nvSpPr>
        <p:spPr>
          <a:xfrm>
            <a:off x="457200" y="6580080"/>
            <a:ext cx="7314840" cy="1533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pc="-1" strike="noStrike">
                <a:solidFill>
                  <a:srgbClr val="4b5563"/>
                </a:solidFill>
                <a:latin typeface="Calibri"/>
              </a:rPr>
              <a:t>ENPM611 — Poetry Issues Analytics — Team: Collins, Hunt, Shah</a:t>
            </a:r>
            <a:endParaRPr b="0" lang="en-US" sz="1000" spc="-1" strike="noStrike">
              <a:solidFill>
                <a:srgbClr val="000000"/>
              </a:solidFill>
              <a:latin typeface="Arial"/>
            </a:endParaRPr>
          </a:p>
        </p:txBody>
      </p:sp>
      <p:sp>
        <p:nvSpPr>
          <p:cNvPr id="166" name="TextBox 20"/>
          <p:cNvSpPr/>
          <p:nvPr/>
        </p:nvSpPr>
        <p:spPr>
          <a:xfrm>
            <a:off x="7772400" y="6580080"/>
            <a:ext cx="274284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pc="-1" strike="noStrike">
                <a:solidFill>
                  <a:srgbClr val="4b5563"/>
                </a:solidFill>
                <a:latin typeface="Calibri"/>
              </a:rPr>
              <a:t>TESTING</a:t>
            </a:r>
            <a:endParaRPr b="0" lang="en-US" sz="1000" spc="-1" strike="noStrike">
              <a:solidFill>
                <a:srgbClr val="000000"/>
              </a:solidFill>
              <a:latin typeface="Arial"/>
            </a:endParaRPr>
          </a:p>
        </p:txBody>
      </p:sp>
      <p:sp>
        <p:nvSpPr>
          <p:cNvPr id="167" name="TextBox 21"/>
          <p:cNvSpPr/>
          <p:nvPr/>
        </p:nvSpPr>
        <p:spPr>
          <a:xfrm>
            <a:off x="10698480" y="6580080"/>
            <a:ext cx="100548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1" lang="en-US" sz="1000" spc="-1" strike="noStrike">
                <a:solidFill>
                  <a:srgbClr val="0f1f3a"/>
                </a:solidFill>
                <a:latin typeface="Calibri"/>
              </a:rPr>
              <a:t>6 / 12</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Rectangle 1"/>
          <p:cNvSpPr/>
          <p:nvPr/>
        </p:nvSpPr>
        <p:spPr>
          <a:xfrm>
            <a:off x="0" y="0"/>
            <a:ext cx="12191400" cy="502560"/>
          </a:xfrm>
          <a:prstGeom prst="rect">
            <a:avLst/>
          </a:prstGeom>
          <a:solidFill>
            <a:srgbClr val="0f1f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9" name="TextBox 2"/>
          <p:cNvSpPr/>
          <p:nvPr/>
        </p:nvSpPr>
        <p:spPr>
          <a:xfrm>
            <a:off x="457200" y="640080"/>
            <a:ext cx="11246760" cy="457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3000" spc="-1" strike="noStrike">
                <a:solidFill>
                  <a:srgbClr val="0f1f3a"/>
                </a:solidFill>
                <a:latin typeface="Calibri"/>
              </a:rPr>
              <a:t>Interesting bugs we found</a:t>
            </a:r>
            <a:endParaRPr b="0" lang="en-US" sz="3000" spc="-1" strike="noStrike">
              <a:solidFill>
                <a:srgbClr val="000000"/>
              </a:solidFill>
              <a:latin typeface="Arial"/>
            </a:endParaRPr>
          </a:p>
        </p:txBody>
      </p:sp>
      <p:sp>
        <p:nvSpPr>
          <p:cNvPr id="170" name="TextBox 3"/>
          <p:cNvSpPr/>
          <p:nvPr/>
        </p:nvSpPr>
        <p:spPr>
          <a:xfrm>
            <a:off x="457200" y="1115640"/>
            <a:ext cx="1124676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500" spc="-1" strike="noStrike">
                <a:solidFill>
                  <a:srgbClr val="4b5563"/>
                </a:solidFill>
                <a:latin typeface="Calibri"/>
              </a:rPr>
              <a:t>Three real defects — each caught by the fixture that targeted its branch</a:t>
            </a:r>
            <a:endParaRPr b="0" lang="en-US" sz="1500" spc="-1" strike="noStrike">
              <a:solidFill>
                <a:srgbClr val="000000"/>
              </a:solidFill>
              <a:latin typeface="Arial"/>
            </a:endParaRPr>
          </a:p>
        </p:txBody>
      </p:sp>
      <p:sp>
        <p:nvSpPr>
          <p:cNvPr id="171" name="Rectangle 4"/>
          <p:cNvSpPr/>
          <p:nvPr/>
        </p:nvSpPr>
        <p:spPr>
          <a:xfrm>
            <a:off x="457200" y="1554480"/>
            <a:ext cx="11246760" cy="1476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9880" bIns="-29880" anchor="ctr">
            <a:noAutofit/>
          </a:bodyPr>
          <a:p>
            <a:pPr algn="ctr" defTabSz="457200">
              <a:lnSpc>
                <a:spcPct val="100000"/>
              </a:lnSpc>
            </a:pPr>
            <a:endParaRPr b="0" lang="en-US" sz="1800" spc="-1" strike="noStrike">
              <a:solidFill>
                <a:schemeClr val="lt1"/>
              </a:solidFill>
              <a:latin typeface="Calibri"/>
            </a:endParaRPr>
          </a:p>
        </p:txBody>
      </p:sp>
      <p:sp>
        <p:nvSpPr>
          <p:cNvPr id="172" name="Rectangle 5"/>
          <p:cNvSpPr/>
          <p:nvPr/>
        </p:nvSpPr>
        <p:spPr>
          <a:xfrm>
            <a:off x="457200" y="1828800"/>
            <a:ext cx="91080" cy="1325520"/>
          </a:xfrm>
          <a:prstGeom prst="rect">
            <a:avLst/>
          </a:prstGeom>
          <a:solidFill>
            <a:srgbClr val="ef44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3" name="TextBox 6"/>
          <p:cNvSpPr/>
          <p:nvPr/>
        </p:nvSpPr>
        <p:spPr>
          <a:xfrm>
            <a:off x="640080" y="1828800"/>
            <a:ext cx="1097244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500" spc="-1" strike="noStrike">
                <a:solidFill>
                  <a:srgbClr val="0f1f3a"/>
                </a:solidFill>
                <a:latin typeface="Calibri"/>
              </a:rPr>
              <a:t>Falsy-zero "N/A" bug</a:t>
            </a:r>
            <a:endParaRPr b="0" lang="en-US" sz="1500" spc="-1" strike="noStrike">
              <a:solidFill>
                <a:srgbClr val="000000"/>
              </a:solidFill>
              <a:latin typeface="Arial"/>
            </a:endParaRPr>
          </a:p>
        </p:txBody>
      </p:sp>
      <p:sp>
        <p:nvSpPr>
          <p:cNvPr id="174" name="TextBox 7"/>
          <p:cNvSpPr/>
          <p:nvPr/>
        </p:nvSpPr>
        <p:spPr>
          <a:xfrm>
            <a:off x="640080" y="2212920"/>
            <a:ext cx="1097244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00" spc="-1" strike="noStrike">
                <a:solidFill>
                  <a:srgbClr val="1a1d29"/>
                </a:solidFill>
                <a:latin typeface="Calibri"/>
              </a:rPr>
              <a:t>metric() shows N/A when the median rounds to 0.0 — because `if 0.0` is False in Python.</a:t>
            </a:r>
            <a:endParaRPr b="0" lang="en-US" sz="1200" spc="-1" strike="noStrike">
              <a:solidFill>
                <a:srgbClr val="000000"/>
              </a:solidFill>
              <a:latin typeface="Arial"/>
            </a:endParaRPr>
          </a:p>
        </p:txBody>
      </p:sp>
      <p:sp>
        <p:nvSpPr>
          <p:cNvPr id="175" name="TextBox 8"/>
          <p:cNvSpPr/>
          <p:nvPr/>
        </p:nvSpPr>
        <p:spPr>
          <a:xfrm>
            <a:off x="640080" y="2743200"/>
            <a:ext cx="1097244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00" spc="-1" strike="noStrike">
                <a:solidFill>
                  <a:srgbClr val="4b5563"/>
                </a:solidFill>
                <a:latin typeface="Calibri"/>
              </a:rPr>
              <a:t>→ </a:t>
            </a:r>
            <a:r>
              <a:rPr b="0" lang="en-US" sz="1200" spc="-1" strike="noStrike">
                <a:solidFill>
                  <a:srgbClr val="4b5563"/>
                </a:solidFill>
                <a:latin typeface="Calibri"/>
              </a:rPr>
              <a:t>Fix: check pd.notna(value), not truthiness. Visible live: Triage Health → Median First Response.</a:t>
            </a:r>
            <a:endParaRPr b="0" lang="en-US" sz="1200" spc="-1" strike="noStrike">
              <a:solidFill>
                <a:srgbClr val="000000"/>
              </a:solidFill>
              <a:latin typeface="Arial"/>
            </a:endParaRPr>
          </a:p>
        </p:txBody>
      </p:sp>
      <p:sp>
        <p:nvSpPr>
          <p:cNvPr id="176" name="Rectangle 9"/>
          <p:cNvSpPr/>
          <p:nvPr/>
        </p:nvSpPr>
        <p:spPr>
          <a:xfrm>
            <a:off x="457200" y="3337560"/>
            <a:ext cx="91080" cy="1325520"/>
          </a:xfrm>
          <a:prstGeom prst="rect">
            <a:avLst/>
          </a:prstGeom>
          <a:solidFill>
            <a:srgbClr val="f59e0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7" name="TextBox 10"/>
          <p:cNvSpPr/>
          <p:nvPr/>
        </p:nvSpPr>
        <p:spPr>
          <a:xfrm>
            <a:off x="640080" y="3337560"/>
            <a:ext cx="1097244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500" spc="-1" strike="noStrike">
                <a:solidFill>
                  <a:srgbClr val="0f1f3a"/>
                </a:solidFill>
                <a:latin typeface="Calibri"/>
              </a:rPr>
              <a:t>Wrong divisor in LabelsAnalysis</a:t>
            </a:r>
            <a:endParaRPr b="0" lang="en-US" sz="1500" spc="-1" strike="noStrike">
              <a:solidFill>
                <a:srgbClr val="000000"/>
              </a:solidFill>
              <a:latin typeface="Arial"/>
            </a:endParaRPr>
          </a:p>
        </p:txBody>
      </p:sp>
      <p:sp>
        <p:nvSpPr>
          <p:cNvPr id="178" name="TextBox 11"/>
          <p:cNvSpPr/>
          <p:nvPr/>
        </p:nvSpPr>
        <p:spPr>
          <a:xfrm>
            <a:off x="640080" y="3721680"/>
            <a:ext cx="1097244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00" spc="-1" strike="noStrike">
                <a:solidFill>
                  <a:srgbClr val="1a1d29"/>
                </a:solidFill>
                <a:latin typeface="Calibri"/>
              </a:rPr>
              <a:t>Average time-to-close per label divides the per-label time sum by the TOTAL number of closed issues, not by the count of closed issues with that label.</a:t>
            </a:r>
            <a:endParaRPr b="0" lang="en-US" sz="1200" spc="-1" strike="noStrike">
              <a:solidFill>
                <a:srgbClr val="000000"/>
              </a:solidFill>
              <a:latin typeface="Arial"/>
            </a:endParaRPr>
          </a:p>
        </p:txBody>
      </p:sp>
      <p:sp>
        <p:nvSpPr>
          <p:cNvPr id="179" name="TextBox 12"/>
          <p:cNvSpPr/>
          <p:nvPr/>
        </p:nvSpPr>
        <p:spPr>
          <a:xfrm>
            <a:off x="640080" y="4251960"/>
            <a:ext cx="1097244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00" spc="-1" strike="noStrike">
                <a:solidFill>
                  <a:srgbClr val="4b5563"/>
                </a:solidFill>
                <a:latin typeface="Calibri"/>
              </a:rPr>
              <a:t>→ </a:t>
            </a:r>
            <a:r>
              <a:rPr b="0" lang="en-US" sz="1200" spc="-1" strike="noStrike">
                <a:solidFill>
                  <a:srgbClr val="4b5563"/>
                </a:solidFill>
                <a:latin typeface="Calibri"/>
              </a:rPr>
              <a:t>Result: averages are silently scaled by ~1/N — every per-label number is wrong by the same factor.</a:t>
            </a:r>
            <a:endParaRPr b="0" lang="en-US" sz="1200" spc="-1" strike="noStrike">
              <a:solidFill>
                <a:srgbClr val="000000"/>
              </a:solidFill>
              <a:latin typeface="Arial"/>
            </a:endParaRPr>
          </a:p>
        </p:txBody>
      </p:sp>
      <p:sp>
        <p:nvSpPr>
          <p:cNvPr id="180" name="Rectangle 13"/>
          <p:cNvSpPr/>
          <p:nvPr/>
        </p:nvSpPr>
        <p:spPr>
          <a:xfrm>
            <a:off x="457200" y="4846320"/>
            <a:ext cx="91080" cy="1325520"/>
          </a:xfrm>
          <a:prstGeom prst="rect">
            <a:avLst/>
          </a:prstGeom>
          <a:solidFill>
            <a:srgbClr val="4a9e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1" name="TextBox 14"/>
          <p:cNvSpPr/>
          <p:nvPr/>
        </p:nvSpPr>
        <p:spPr>
          <a:xfrm>
            <a:off x="640080" y="4846320"/>
            <a:ext cx="1097244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500" spc="-1" strike="noStrike">
                <a:solidFill>
                  <a:srgbClr val="0f1f3a"/>
                </a:solidFill>
                <a:latin typeface="Calibri"/>
              </a:rPr>
              <a:t>Zero-events crashes pages</a:t>
            </a:r>
            <a:endParaRPr b="0" lang="en-US" sz="1500" spc="-1" strike="noStrike">
              <a:solidFill>
                <a:srgbClr val="000000"/>
              </a:solidFill>
              <a:latin typeface="Arial"/>
            </a:endParaRPr>
          </a:p>
        </p:txBody>
      </p:sp>
      <p:sp>
        <p:nvSpPr>
          <p:cNvPr id="182" name="TextBox 15"/>
          <p:cNvSpPr/>
          <p:nvPr/>
        </p:nvSpPr>
        <p:spPr>
          <a:xfrm>
            <a:off x="640080" y="5230440"/>
            <a:ext cx="1097244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00" spc="-1" strike="noStrike">
                <a:solidFill>
                  <a:srgbClr val="1a1d29"/>
                </a:solidFill>
                <a:latin typeface="Calibri"/>
              </a:rPr>
              <a:t>Several pages access df_events.groupby(...) without checking df_events.empty. A contributor filter that wipes events crashes the heatmap.</a:t>
            </a:r>
            <a:endParaRPr b="0" lang="en-US" sz="1200" spc="-1" strike="noStrike">
              <a:solidFill>
                <a:srgbClr val="000000"/>
              </a:solidFill>
              <a:latin typeface="Arial"/>
            </a:endParaRPr>
          </a:p>
        </p:txBody>
      </p:sp>
      <p:sp>
        <p:nvSpPr>
          <p:cNvPr id="183" name="TextBox 16"/>
          <p:cNvSpPr/>
          <p:nvPr/>
        </p:nvSpPr>
        <p:spPr>
          <a:xfrm>
            <a:off x="640080" y="5760720"/>
            <a:ext cx="1097244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00" spc="-1" strike="noStrike">
                <a:solidFill>
                  <a:srgbClr val="4b5563"/>
                </a:solidFill>
                <a:latin typeface="Calibri"/>
              </a:rPr>
              <a:t>→ </a:t>
            </a:r>
            <a:r>
              <a:rPr b="0" lang="en-US" sz="1200" spc="-1" strike="noStrike">
                <a:solidFill>
                  <a:srgbClr val="4b5563"/>
                </a:solidFill>
                <a:latin typeface="Calibri"/>
              </a:rPr>
              <a:t>Fix: guard with `if not df_events.empty` (already added in metrics.py — pages still need it).</a:t>
            </a:r>
            <a:endParaRPr b="0" lang="en-US" sz="1200" spc="-1" strike="noStrike">
              <a:solidFill>
                <a:srgbClr val="000000"/>
              </a:solidFill>
              <a:latin typeface="Arial"/>
            </a:endParaRPr>
          </a:p>
        </p:txBody>
      </p:sp>
      <p:sp>
        <p:nvSpPr>
          <p:cNvPr id="184" name="Rectangle 17"/>
          <p:cNvSpPr/>
          <p:nvPr/>
        </p:nvSpPr>
        <p:spPr>
          <a:xfrm>
            <a:off x="0" y="6446520"/>
            <a:ext cx="12191400" cy="4111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5" name="TextBox 18"/>
          <p:cNvSpPr/>
          <p:nvPr/>
        </p:nvSpPr>
        <p:spPr>
          <a:xfrm>
            <a:off x="457200" y="6580080"/>
            <a:ext cx="7314840" cy="1533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pc="-1" strike="noStrike">
                <a:solidFill>
                  <a:srgbClr val="4b5563"/>
                </a:solidFill>
                <a:latin typeface="Calibri"/>
              </a:rPr>
              <a:t>ENPM611 — Poetry Issues Analytics — Team: Collins, Hunt, Shah</a:t>
            </a:r>
            <a:endParaRPr b="0" lang="en-US" sz="1000" spc="-1" strike="noStrike">
              <a:solidFill>
                <a:srgbClr val="000000"/>
              </a:solidFill>
              <a:latin typeface="Arial"/>
            </a:endParaRPr>
          </a:p>
        </p:txBody>
      </p:sp>
      <p:sp>
        <p:nvSpPr>
          <p:cNvPr id="186" name="TextBox 19"/>
          <p:cNvSpPr/>
          <p:nvPr/>
        </p:nvSpPr>
        <p:spPr>
          <a:xfrm>
            <a:off x="7772400" y="6580080"/>
            <a:ext cx="274284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pc="-1" strike="noStrike">
                <a:solidFill>
                  <a:srgbClr val="4b5563"/>
                </a:solidFill>
                <a:latin typeface="Calibri"/>
              </a:rPr>
              <a:t>TESTING</a:t>
            </a:r>
            <a:endParaRPr b="0" lang="en-US" sz="1000" spc="-1" strike="noStrike">
              <a:solidFill>
                <a:srgbClr val="000000"/>
              </a:solidFill>
              <a:latin typeface="Arial"/>
            </a:endParaRPr>
          </a:p>
        </p:txBody>
      </p:sp>
      <p:sp>
        <p:nvSpPr>
          <p:cNvPr id="187" name="TextBox 20"/>
          <p:cNvSpPr/>
          <p:nvPr/>
        </p:nvSpPr>
        <p:spPr>
          <a:xfrm>
            <a:off x="10698480" y="6580080"/>
            <a:ext cx="100548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1" lang="en-US" sz="1000" spc="-1" strike="noStrike">
                <a:solidFill>
                  <a:srgbClr val="0f1f3a"/>
                </a:solidFill>
                <a:latin typeface="Calibri"/>
              </a:rPr>
              <a:t>7 / 12</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 name="Rectangle 1"/>
          <p:cNvSpPr/>
          <p:nvPr/>
        </p:nvSpPr>
        <p:spPr>
          <a:xfrm>
            <a:off x="0" y="0"/>
            <a:ext cx="12191400" cy="502560"/>
          </a:xfrm>
          <a:prstGeom prst="rect">
            <a:avLst/>
          </a:prstGeom>
          <a:solidFill>
            <a:srgbClr val="0f1f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9" name="TextBox 2"/>
          <p:cNvSpPr/>
          <p:nvPr/>
        </p:nvSpPr>
        <p:spPr>
          <a:xfrm>
            <a:off x="457200" y="640080"/>
            <a:ext cx="11246760" cy="457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3000" spc="-1" strike="noStrike">
                <a:solidFill>
                  <a:srgbClr val="0f1f3a"/>
                </a:solidFill>
                <a:latin typeface="Calibri"/>
              </a:rPr>
              <a:t>Live demo: "Is the Poetry project healthy?"</a:t>
            </a:r>
            <a:endParaRPr b="0" lang="en-US" sz="3000" spc="-1" strike="noStrike">
              <a:solidFill>
                <a:srgbClr val="000000"/>
              </a:solidFill>
              <a:latin typeface="Arial"/>
            </a:endParaRPr>
          </a:p>
        </p:txBody>
      </p:sp>
      <p:sp>
        <p:nvSpPr>
          <p:cNvPr id="190" name="TextBox 3"/>
          <p:cNvSpPr/>
          <p:nvPr/>
        </p:nvSpPr>
        <p:spPr>
          <a:xfrm>
            <a:off x="457200" y="1115640"/>
            <a:ext cx="1124676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500" spc="-1" strike="noStrike">
                <a:solidFill>
                  <a:srgbClr val="4b5563"/>
                </a:solidFill>
                <a:latin typeface="Calibri"/>
              </a:rPr>
              <a:t>Three sub-questions, answered against the live dashboard</a:t>
            </a:r>
            <a:endParaRPr b="0" lang="en-US" sz="1500" spc="-1" strike="noStrike">
              <a:solidFill>
                <a:srgbClr val="000000"/>
              </a:solidFill>
              <a:latin typeface="Arial"/>
            </a:endParaRPr>
          </a:p>
        </p:txBody>
      </p:sp>
      <p:sp>
        <p:nvSpPr>
          <p:cNvPr id="191" name="Rectangle 4"/>
          <p:cNvSpPr/>
          <p:nvPr/>
        </p:nvSpPr>
        <p:spPr>
          <a:xfrm>
            <a:off x="457200" y="1554480"/>
            <a:ext cx="11246760" cy="1476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9880" bIns="-29880" anchor="ctr">
            <a:noAutofit/>
          </a:bodyPr>
          <a:p>
            <a:pPr algn="ctr" defTabSz="457200">
              <a:lnSpc>
                <a:spcPct val="100000"/>
              </a:lnSpc>
            </a:pPr>
            <a:endParaRPr b="0" lang="en-US" sz="1800" spc="-1" strike="noStrike">
              <a:solidFill>
                <a:schemeClr val="lt1"/>
              </a:solidFill>
              <a:latin typeface="Calibri"/>
            </a:endParaRPr>
          </a:p>
        </p:txBody>
      </p:sp>
      <p:sp>
        <p:nvSpPr>
          <p:cNvPr id="192" name="Rectangle 5"/>
          <p:cNvSpPr/>
          <p:nvPr/>
        </p:nvSpPr>
        <p:spPr>
          <a:xfrm>
            <a:off x="457200" y="1920240"/>
            <a:ext cx="11246760" cy="10969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3" name="Rectangle 6"/>
          <p:cNvSpPr/>
          <p:nvPr/>
        </p:nvSpPr>
        <p:spPr>
          <a:xfrm>
            <a:off x="457200" y="1920240"/>
            <a:ext cx="164160" cy="1096920"/>
          </a:xfrm>
          <a:prstGeom prst="rect">
            <a:avLst/>
          </a:prstGeom>
          <a:solidFill>
            <a:srgbClr val="10b98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4" name="TextBox 7"/>
          <p:cNvSpPr/>
          <p:nvPr/>
        </p:nvSpPr>
        <p:spPr>
          <a:xfrm>
            <a:off x="777240" y="2057400"/>
            <a:ext cx="10789560" cy="2746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800" spc="-1" strike="noStrike">
                <a:solidFill>
                  <a:srgbClr val="0f1f3a"/>
                </a:solidFill>
                <a:latin typeface="Calibri"/>
              </a:rPr>
              <a:t>1. Are new issues triaged quickly?</a:t>
            </a:r>
            <a:endParaRPr b="0" lang="en-US" sz="1800" spc="-1" strike="noStrike">
              <a:solidFill>
                <a:srgbClr val="000000"/>
              </a:solidFill>
              <a:latin typeface="Arial"/>
            </a:endParaRPr>
          </a:p>
        </p:txBody>
      </p:sp>
      <p:sp>
        <p:nvSpPr>
          <p:cNvPr id="195" name="TextBox 8"/>
          <p:cNvSpPr/>
          <p:nvPr/>
        </p:nvSpPr>
        <p:spPr>
          <a:xfrm>
            <a:off x="777240" y="2514600"/>
            <a:ext cx="107895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00" spc="-1" strike="noStrike">
                <a:solidFill>
                  <a:srgbClr val="4b5563"/>
                </a:solidFill>
                <a:latin typeface="Calibri"/>
              </a:rPr>
              <a:t>Triage Health → median first response, response distribution, monthly trend</a:t>
            </a:r>
            <a:endParaRPr b="0" lang="en-US" sz="1200" spc="-1" strike="noStrike">
              <a:solidFill>
                <a:srgbClr val="000000"/>
              </a:solidFill>
              <a:latin typeface="Arial"/>
            </a:endParaRPr>
          </a:p>
        </p:txBody>
      </p:sp>
      <p:sp>
        <p:nvSpPr>
          <p:cNvPr id="196" name="Rectangle 9"/>
          <p:cNvSpPr/>
          <p:nvPr/>
        </p:nvSpPr>
        <p:spPr>
          <a:xfrm>
            <a:off x="457200" y="3200400"/>
            <a:ext cx="11246760" cy="10969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7" name="Rectangle 10"/>
          <p:cNvSpPr/>
          <p:nvPr/>
        </p:nvSpPr>
        <p:spPr>
          <a:xfrm>
            <a:off x="457200" y="3200400"/>
            <a:ext cx="164160" cy="1096920"/>
          </a:xfrm>
          <a:prstGeom prst="rect">
            <a:avLst/>
          </a:prstGeom>
          <a:solidFill>
            <a:srgbClr val="4a9e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8" name="TextBox 11"/>
          <p:cNvSpPr/>
          <p:nvPr/>
        </p:nvSpPr>
        <p:spPr>
          <a:xfrm>
            <a:off x="777240" y="3337560"/>
            <a:ext cx="10789560" cy="2746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800" spc="-1" strike="noStrike">
                <a:solidFill>
                  <a:srgbClr val="0f1f3a"/>
                </a:solidFill>
                <a:latin typeface="Calibri"/>
              </a:rPr>
              <a:t>2. Are open issues piling up faster than they close?</a:t>
            </a:r>
            <a:endParaRPr b="0" lang="en-US" sz="1800" spc="-1" strike="noStrike">
              <a:solidFill>
                <a:srgbClr val="000000"/>
              </a:solidFill>
              <a:latin typeface="Arial"/>
            </a:endParaRPr>
          </a:p>
        </p:txBody>
      </p:sp>
      <p:sp>
        <p:nvSpPr>
          <p:cNvPr id="199" name="TextBox 12"/>
          <p:cNvSpPr/>
          <p:nvPr/>
        </p:nvSpPr>
        <p:spPr>
          <a:xfrm>
            <a:off x="777240" y="3794760"/>
            <a:ext cx="107895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00" spc="-1" strike="noStrike">
                <a:solidFill>
                  <a:srgbClr val="4b5563"/>
                </a:solidFill>
                <a:latin typeface="Calibri"/>
              </a:rPr>
              <a:t>Resolution → time-to-close distribution, monthly created vs closed     +     Stale Issues → bucket distribution, attention list</a:t>
            </a:r>
            <a:endParaRPr b="0" lang="en-US" sz="1200" spc="-1" strike="noStrike">
              <a:solidFill>
                <a:srgbClr val="000000"/>
              </a:solidFill>
              <a:latin typeface="Arial"/>
            </a:endParaRPr>
          </a:p>
        </p:txBody>
      </p:sp>
      <p:sp>
        <p:nvSpPr>
          <p:cNvPr id="200" name="Rectangle 13"/>
          <p:cNvSpPr/>
          <p:nvPr/>
        </p:nvSpPr>
        <p:spPr>
          <a:xfrm>
            <a:off x="457200" y="4480560"/>
            <a:ext cx="11246760" cy="10969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1" name="Rectangle 14"/>
          <p:cNvSpPr/>
          <p:nvPr/>
        </p:nvSpPr>
        <p:spPr>
          <a:xfrm>
            <a:off x="457200" y="4480560"/>
            <a:ext cx="164160" cy="1096920"/>
          </a:xfrm>
          <a:prstGeom prst="rect">
            <a:avLst/>
          </a:prstGeom>
          <a:solidFill>
            <a:srgbClr val="f59e0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2" name="TextBox 15"/>
          <p:cNvSpPr/>
          <p:nvPr/>
        </p:nvSpPr>
        <p:spPr>
          <a:xfrm>
            <a:off x="777240" y="4617720"/>
            <a:ext cx="10789560" cy="2746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800" spc="-1" strike="noStrike">
                <a:solidFill>
                  <a:srgbClr val="0f1f3a"/>
                </a:solidFill>
                <a:latin typeface="Calibri"/>
              </a:rPr>
              <a:t>3. Is the project sustainably staffed?</a:t>
            </a:r>
            <a:endParaRPr b="0" lang="en-US" sz="1800" spc="-1" strike="noStrike">
              <a:solidFill>
                <a:srgbClr val="000000"/>
              </a:solidFill>
              <a:latin typeface="Arial"/>
            </a:endParaRPr>
          </a:p>
        </p:txBody>
      </p:sp>
      <p:sp>
        <p:nvSpPr>
          <p:cNvPr id="203" name="TextBox 16"/>
          <p:cNvSpPr/>
          <p:nvPr/>
        </p:nvSpPr>
        <p:spPr>
          <a:xfrm>
            <a:off x="777240" y="5074920"/>
            <a:ext cx="107895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00" spc="-1" strike="noStrike">
                <a:solidFill>
                  <a:srgbClr val="4b5563"/>
                </a:solidFill>
                <a:latin typeface="Calibri"/>
              </a:rPr>
              <a:t>Contributors → top contributors by event count, new vs returning, activity heatmap     +     Trends → bug:feature ratio over time</a:t>
            </a:r>
            <a:endParaRPr b="0" lang="en-US" sz="1200" spc="-1" strike="noStrike">
              <a:solidFill>
                <a:srgbClr val="000000"/>
              </a:solidFill>
              <a:latin typeface="Arial"/>
            </a:endParaRPr>
          </a:p>
        </p:txBody>
      </p:sp>
      <p:sp>
        <p:nvSpPr>
          <p:cNvPr id="204" name="TextBox 17"/>
          <p:cNvSpPr/>
          <p:nvPr/>
        </p:nvSpPr>
        <p:spPr>
          <a:xfrm>
            <a:off x="457200" y="5943600"/>
            <a:ext cx="112467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0b981"/>
                </a:solidFill>
                <a:latin typeface="Calibri"/>
              </a:rPr>
              <a:t>We chose this question because it forces us to use multiple pages together — no single page answers "is it healthy?"</a:t>
            </a:r>
            <a:endParaRPr b="0" lang="en-US" sz="1200" spc="-1" strike="noStrike">
              <a:solidFill>
                <a:srgbClr val="000000"/>
              </a:solidFill>
              <a:latin typeface="Arial"/>
            </a:endParaRPr>
          </a:p>
        </p:txBody>
      </p:sp>
      <p:sp>
        <p:nvSpPr>
          <p:cNvPr id="205" name="Rectangle 18"/>
          <p:cNvSpPr/>
          <p:nvPr/>
        </p:nvSpPr>
        <p:spPr>
          <a:xfrm>
            <a:off x="0" y="6446520"/>
            <a:ext cx="12191400" cy="4111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6" name="TextBox 19"/>
          <p:cNvSpPr/>
          <p:nvPr/>
        </p:nvSpPr>
        <p:spPr>
          <a:xfrm>
            <a:off x="457200" y="6580080"/>
            <a:ext cx="7314840" cy="1533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pc="-1" strike="noStrike">
                <a:solidFill>
                  <a:srgbClr val="4b5563"/>
                </a:solidFill>
                <a:latin typeface="Calibri"/>
              </a:rPr>
              <a:t>ENPM611 — Poetry Issues Analytics — Team: Collins, Hunt, Shah</a:t>
            </a:r>
            <a:endParaRPr b="0" lang="en-US" sz="1000" spc="-1" strike="noStrike">
              <a:solidFill>
                <a:srgbClr val="000000"/>
              </a:solidFill>
              <a:latin typeface="Arial"/>
            </a:endParaRPr>
          </a:p>
        </p:txBody>
      </p:sp>
      <p:sp>
        <p:nvSpPr>
          <p:cNvPr id="207" name="TextBox 20"/>
          <p:cNvSpPr/>
          <p:nvPr/>
        </p:nvSpPr>
        <p:spPr>
          <a:xfrm>
            <a:off x="7772400" y="6580080"/>
            <a:ext cx="274284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pc="-1" strike="noStrike">
                <a:solidFill>
                  <a:srgbClr val="4b5563"/>
                </a:solidFill>
                <a:latin typeface="Calibri"/>
              </a:rPr>
              <a:t>DEMO</a:t>
            </a:r>
            <a:endParaRPr b="0" lang="en-US" sz="1000" spc="-1" strike="noStrike">
              <a:solidFill>
                <a:srgbClr val="000000"/>
              </a:solidFill>
              <a:latin typeface="Arial"/>
            </a:endParaRPr>
          </a:p>
        </p:txBody>
      </p:sp>
      <p:sp>
        <p:nvSpPr>
          <p:cNvPr id="208" name="TextBox 21"/>
          <p:cNvSpPr/>
          <p:nvPr/>
        </p:nvSpPr>
        <p:spPr>
          <a:xfrm>
            <a:off x="10698480" y="6580080"/>
            <a:ext cx="100548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1" lang="en-US" sz="1000" spc="-1" strike="noStrike">
                <a:solidFill>
                  <a:srgbClr val="0f1f3a"/>
                </a:solidFill>
                <a:latin typeface="Calibri"/>
              </a:rPr>
              <a:t>8 / 12</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Rectangle 1"/>
          <p:cNvSpPr/>
          <p:nvPr/>
        </p:nvSpPr>
        <p:spPr>
          <a:xfrm>
            <a:off x="0" y="0"/>
            <a:ext cx="12191400" cy="502560"/>
          </a:xfrm>
          <a:prstGeom prst="rect">
            <a:avLst/>
          </a:prstGeom>
          <a:solidFill>
            <a:srgbClr val="0f1f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0" name="TextBox 2"/>
          <p:cNvSpPr/>
          <p:nvPr/>
        </p:nvSpPr>
        <p:spPr>
          <a:xfrm>
            <a:off x="457200" y="640080"/>
            <a:ext cx="11246760" cy="457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3000" spc="-1" strike="noStrike">
                <a:solidFill>
                  <a:srgbClr val="0f1f3a"/>
                </a:solidFill>
                <a:latin typeface="Calibri"/>
              </a:rPr>
              <a:t>Demo · Q1 — Are new issues triaged quickly?</a:t>
            </a:r>
            <a:endParaRPr b="0" lang="en-US" sz="3000" spc="-1" strike="noStrike">
              <a:solidFill>
                <a:srgbClr val="000000"/>
              </a:solidFill>
              <a:latin typeface="Arial"/>
            </a:endParaRPr>
          </a:p>
        </p:txBody>
      </p:sp>
      <p:sp>
        <p:nvSpPr>
          <p:cNvPr id="211" name="TextBox 3"/>
          <p:cNvSpPr/>
          <p:nvPr/>
        </p:nvSpPr>
        <p:spPr>
          <a:xfrm>
            <a:off x="457200" y="1115640"/>
            <a:ext cx="1124676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500" spc="-1" strike="noStrike">
                <a:solidFill>
                  <a:srgbClr val="4b5563"/>
                </a:solidFill>
                <a:latin typeface="Calibri"/>
              </a:rPr>
              <a:t>Triage Health page · live walkthrough</a:t>
            </a:r>
            <a:endParaRPr b="0" lang="en-US" sz="1500" spc="-1" strike="noStrike">
              <a:solidFill>
                <a:srgbClr val="000000"/>
              </a:solidFill>
              <a:latin typeface="Arial"/>
            </a:endParaRPr>
          </a:p>
        </p:txBody>
      </p:sp>
      <p:sp>
        <p:nvSpPr>
          <p:cNvPr id="212" name="Rectangle 4"/>
          <p:cNvSpPr/>
          <p:nvPr/>
        </p:nvSpPr>
        <p:spPr>
          <a:xfrm>
            <a:off x="457200" y="1554480"/>
            <a:ext cx="11246760" cy="1476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9880" bIns="-29880" anchor="ctr">
            <a:noAutofit/>
          </a:bodyPr>
          <a:p>
            <a:pPr algn="ctr" defTabSz="457200">
              <a:lnSpc>
                <a:spcPct val="100000"/>
              </a:lnSpc>
            </a:pPr>
            <a:endParaRPr b="0" lang="en-US" sz="1800" spc="-1" strike="noStrike">
              <a:solidFill>
                <a:schemeClr val="lt1"/>
              </a:solidFill>
              <a:latin typeface="Calibri"/>
            </a:endParaRPr>
          </a:p>
        </p:txBody>
      </p:sp>
      <p:pic>
        <p:nvPicPr>
          <p:cNvPr id="213" name="Picture 5" descr="2_triage.png"/>
          <p:cNvPicPr/>
          <p:nvPr/>
        </p:nvPicPr>
        <p:blipFill>
          <a:blip r:embed="rId1"/>
          <a:stretch/>
        </p:blipFill>
        <p:spPr>
          <a:xfrm>
            <a:off x="457200" y="1783080"/>
            <a:ext cx="7772040" cy="4114440"/>
          </a:xfrm>
          <a:prstGeom prst="rect">
            <a:avLst/>
          </a:prstGeom>
          <a:ln w="0">
            <a:noFill/>
          </a:ln>
        </p:spPr>
      </p:pic>
      <p:sp>
        <p:nvSpPr>
          <p:cNvPr id="214" name="TextBox 6"/>
          <p:cNvSpPr/>
          <p:nvPr/>
        </p:nvSpPr>
        <p:spPr>
          <a:xfrm>
            <a:off x="457200" y="5989320"/>
            <a:ext cx="7772040" cy="1530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000" spc="-1" strike="noStrike">
                <a:solidFill>
                  <a:srgbClr val="4b5563"/>
                </a:solidFill>
                <a:latin typeface="Calibri"/>
              </a:rPr>
              <a:t>Triage Health · live screenshot</a:t>
            </a:r>
            <a:endParaRPr b="0" lang="en-US" sz="1000" spc="-1" strike="noStrike">
              <a:solidFill>
                <a:srgbClr val="000000"/>
              </a:solidFill>
              <a:latin typeface="Arial"/>
            </a:endParaRPr>
          </a:p>
        </p:txBody>
      </p:sp>
      <p:sp>
        <p:nvSpPr>
          <p:cNvPr id="215" name="TextBox 7"/>
          <p:cNvSpPr/>
          <p:nvPr/>
        </p:nvSpPr>
        <p:spPr>
          <a:xfrm>
            <a:off x="8503920" y="1783080"/>
            <a:ext cx="338292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f1f3a"/>
                </a:solidFill>
                <a:latin typeface="Calibri"/>
              </a:rPr>
              <a:t>Findings</a:t>
            </a:r>
            <a:endParaRPr b="0" lang="en-US" sz="1400" spc="-1" strike="noStrike">
              <a:solidFill>
                <a:srgbClr val="000000"/>
              </a:solidFill>
              <a:latin typeface="Arial"/>
            </a:endParaRPr>
          </a:p>
        </p:txBody>
      </p:sp>
      <p:sp>
        <p:nvSpPr>
          <p:cNvPr id="216" name="TextBox 8"/>
          <p:cNvSpPr/>
          <p:nvPr/>
        </p:nvSpPr>
        <p:spPr>
          <a:xfrm>
            <a:off x="8503920" y="2148840"/>
            <a:ext cx="3382920" cy="1837800"/>
          </a:xfrm>
          <a:prstGeom prst="rect">
            <a:avLst/>
          </a:prstGeom>
          <a:noFill/>
          <a:ln w="0">
            <a:noFill/>
          </a:ln>
        </p:spPr>
        <p:style>
          <a:lnRef idx="0"/>
          <a:fillRef idx="0"/>
          <a:effectRef idx="0"/>
          <a:fontRef idx="minor"/>
        </p:style>
        <p:txBody>
          <a:bodyPr lIns="0" rIns="0" tIns="0" bIns="0" anchor="t">
            <a:spAutoFit/>
          </a:bodyPr>
          <a:p>
            <a:pPr defTabSz="457200">
              <a:lnSpc>
                <a:spcPct val="125000"/>
              </a:lnSpc>
              <a:spcAft>
                <a:spcPts val="601"/>
              </a:spcAft>
            </a:pPr>
            <a:r>
              <a:rPr b="1" lang="en-US" sz="1150" spc="-1" strike="noStrike">
                <a:solidFill>
                  <a:srgbClr val="10b981"/>
                </a:solidFill>
                <a:latin typeface="Calibri"/>
              </a:rPr>
              <a:t>▎ </a:t>
            </a:r>
            <a:r>
              <a:rPr b="0" lang="en-US" sz="1150" spc="-1" strike="noStrike">
                <a:solidFill>
                  <a:srgbClr val="1a1d29"/>
                </a:solidFill>
                <a:latin typeface="Calibri"/>
              </a:rPr>
              <a:t>5,200+ issues get a first response in &lt;1 hour</a:t>
            </a:r>
            <a:endParaRPr b="0" lang="en-US" sz="1150" spc="-1" strike="noStrike">
              <a:solidFill>
                <a:srgbClr val="000000"/>
              </a:solidFill>
              <a:latin typeface="Arial"/>
            </a:endParaRPr>
          </a:p>
          <a:p>
            <a:pPr defTabSz="457200">
              <a:lnSpc>
                <a:spcPct val="125000"/>
              </a:lnSpc>
              <a:spcAft>
                <a:spcPts val="601"/>
              </a:spcAft>
            </a:pPr>
            <a:r>
              <a:rPr b="1" lang="en-US" sz="1150" spc="-1" strike="noStrike">
                <a:solidFill>
                  <a:srgbClr val="10b981"/>
                </a:solidFill>
                <a:latin typeface="Calibri"/>
              </a:rPr>
              <a:t>▎ </a:t>
            </a:r>
            <a:r>
              <a:rPr b="0" lang="en-US" sz="1150" spc="-1" strike="noStrike">
                <a:solidFill>
                  <a:srgbClr val="1a1d29"/>
                </a:solidFill>
                <a:latin typeface="Calibri"/>
              </a:rPr>
              <a:t>Long tail still exists: hundreds wait &gt;1 month</a:t>
            </a:r>
            <a:endParaRPr b="0" lang="en-US" sz="1150" spc="-1" strike="noStrike">
              <a:solidFill>
                <a:srgbClr val="000000"/>
              </a:solidFill>
              <a:latin typeface="Arial"/>
            </a:endParaRPr>
          </a:p>
          <a:p>
            <a:pPr defTabSz="457200">
              <a:lnSpc>
                <a:spcPct val="125000"/>
              </a:lnSpc>
              <a:spcAft>
                <a:spcPts val="601"/>
              </a:spcAft>
            </a:pPr>
            <a:r>
              <a:rPr b="1" lang="en-US" sz="1150" spc="-1" strike="noStrike">
                <a:solidFill>
                  <a:srgbClr val="10b981"/>
                </a:solidFill>
                <a:latin typeface="Calibri"/>
              </a:rPr>
              <a:t>▎ </a:t>
            </a:r>
            <a:r>
              <a:rPr b="0" lang="en-US" sz="1150" spc="-1" strike="noStrike">
                <a:solidFill>
                  <a:srgbClr val="1a1d29"/>
                </a:solidFill>
                <a:latin typeface="Calibri"/>
              </a:rPr>
              <a:t>1,052 issues never received any label</a:t>
            </a:r>
            <a:endParaRPr b="0" lang="en-US" sz="1150" spc="-1" strike="noStrike">
              <a:solidFill>
                <a:srgbClr val="000000"/>
              </a:solidFill>
              <a:latin typeface="Arial"/>
            </a:endParaRPr>
          </a:p>
          <a:p>
            <a:pPr defTabSz="457200">
              <a:lnSpc>
                <a:spcPct val="125000"/>
              </a:lnSpc>
              <a:spcAft>
                <a:spcPts val="601"/>
              </a:spcAft>
            </a:pPr>
            <a:r>
              <a:rPr b="1" lang="en-US" sz="1150" spc="-1" strike="noStrike">
                <a:solidFill>
                  <a:srgbClr val="10b981"/>
                </a:solidFill>
                <a:latin typeface="Calibri"/>
              </a:rPr>
              <a:t>▎ </a:t>
            </a:r>
            <a:r>
              <a:rPr b="0" lang="en-US" sz="1150" spc="-1" strike="noStrike">
                <a:solidFill>
                  <a:srgbClr val="1a1d29"/>
                </a:solidFill>
                <a:latin typeface="Calibri"/>
              </a:rPr>
              <a:t>Triage time spiked briefly in mid-2019, then settled</a:t>
            </a:r>
            <a:endParaRPr b="0" lang="en-US" sz="1150" spc="-1" strike="noStrike">
              <a:solidFill>
                <a:srgbClr val="000000"/>
              </a:solidFill>
              <a:latin typeface="Arial"/>
            </a:endParaRPr>
          </a:p>
          <a:p>
            <a:pPr defTabSz="457200">
              <a:lnSpc>
                <a:spcPct val="125000"/>
              </a:lnSpc>
              <a:spcAft>
                <a:spcPts val="601"/>
              </a:spcAft>
            </a:pPr>
            <a:r>
              <a:rPr b="1" lang="en-US" sz="1150" spc="-1" strike="noStrike">
                <a:solidFill>
                  <a:srgbClr val="10b981"/>
                </a:solidFill>
                <a:latin typeface="Calibri"/>
              </a:rPr>
              <a:t>▎ </a:t>
            </a:r>
            <a:r>
              <a:rPr b="0" lang="en-US" sz="1150" spc="-1" strike="noStrike">
                <a:solidFill>
                  <a:srgbClr val="1a1d29"/>
                </a:solidFill>
                <a:latin typeface="Calibri"/>
              </a:rPr>
              <a:t>Headline: front door is fast — back door is the problem</a:t>
            </a:r>
            <a:endParaRPr b="0" lang="en-US" sz="1150" spc="-1" strike="noStrike">
              <a:solidFill>
                <a:srgbClr val="000000"/>
              </a:solidFill>
              <a:latin typeface="Arial"/>
            </a:endParaRPr>
          </a:p>
        </p:txBody>
      </p:sp>
      <p:sp>
        <p:nvSpPr>
          <p:cNvPr id="217" name="Rectangle 9"/>
          <p:cNvSpPr/>
          <p:nvPr/>
        </p:nvSpPr>
        <p:spPr>
          <a:xfrm>
            <a:off x="8503920" y="5532120"/>
            <a:ext cx="3382920" cy="77688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8" name="Rectangle 10"/>
          <p:cNvSpPr/>
          <p:nvPr/>
        </p:nvSpPr>
        <p:spPr>
          <a:xfrm>
            <a:off x="8503920" y="5532120"/>
            <a:ext cx="72720" cy="776880"/>
          </a:xfrm>
          <a:prstGeom prst="rect">
            <a:avLst/>
          </a:prstGeom>
          <a:solidFill>
            <a:srgbClr val="ef444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9" name="TextBox 11"/>
          <p:cNvSpPr/>
          <p:nvPr/>
        </p:nvSpPr>
        <p:spPr>
          <a:xfrm>
            <a:off x="8641080" y="5596200"/>
            <a:ext cx="324576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000" spc="-1" strike="noStrike">
                <a:solidFill>
                  <a:srgbClr val="ef4444"/>
                </a:solidFill>
                <a:latin typeface="Calibri"/>
              </a:rPr>
              <a:t>Live bug callout</a:t>
            </a:r>
            <a:endParaRPr b="0" lang="en-US" sz="1000" spc="-1" strike="noStrike">
              <a:solidFill>
                <a:srgbClr val="000000"/>
              </a:solidFill>
              <a:latin typeface="Arial"/>
            </a:endParaRPr>
          </a:p>
        </p:txBody>
      </p:sp>
      <p:sp>
        <p:nvSpPr>
          <p:cNvPr id="220" name="TextBox 12"/>
          <p:cNvSpPr/>
          <p:nvPr/>
        </p:nvSpPr>
        <p:spPr>
          <a:xfrm>
            <a:off x="8641080" y="5852160"/>
            <a:ext cx="3245760" cy="457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1a1d29"/>
                </a:solidFill>
                <a:latin typeface="Calibri"/>
              </a:rPr>
              <a:t>"Median First Response: N/A" while the histogram shows thousands of &lt;1h responses — the falsy-zero bug from slide 7.</a:t>
            </a:r>
            <a:endParaRPr b="0" lang="en-US" sz="1000" spc="-1" strike="noStrike">
              <a:solidFill>
                <a:srgbClr val="000000"/>
              </a:solidFill>
              <a:latin typeface="Arial"/>
            </a:endParaRPr>
          </a:p>
        </p:txBody>
      </p:sp>
      <p:sp>
        <p:nvSpPr>
          <p:cNvPr id="221" name="Rectangle 13"/>
          <p:cNvSpPr/>
          <p:nvPr/>
        </p:nvSpPr>
        <p:spPr>
          <a:xfrm>
            <a:off x="0" y="6446520"/>
            <a:ext cx="12191400" cy="4111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2" name="TextBox 14"/>
          <p:cNvSpPr/>
          <p:nvPr/>
        </p:nvSpPr>
        <p:spPr>
          <a:xfrm>
            <a:off x="457200" y="6580080"/>
            <a:ext cx="7314840" cy="1533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pc="-1" strike="noStrike">
                <a:solidFill>
                  <a:srgbClr val="4b5563"/>
                </a:solidFill>
                <a:latin typeface="Calibri"/>
              </a:rPr>
              <a:t>ENPM611 — Poetry Issues Analytics — Team: Collins, Hunt, Shah</a:t>
            </a:r>
            <a:endParaRPr b="0" lang="en-US" sz="1000" spc="-1" strike="noStrike">
              <a:solidFill>
                <a:srgbClr val="000000"/>
              </a:solidFill>
              <a:latin typeface="Arial"/>
            </a:endParaRPr>
          </a:p>
        </p:txBody>
      </p:sp>
      <p:sp>
        <p:nvSpPr>
          <p:cNvPr id="223" name="TextBox 15"/>
          <p:cNvSpPr/>
          <p:nvPr/>
        </p:nvSpPr>
        <p:spPr>
          <a:xfrm>
            <a:off x="7772400" y="6580080"/>
            <a:ext cx="274284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pc="-1" strike="noStrike">
                <a:solidFill>
                  <a:srgbClr val="4b5563"/>
                </a:solidFill>
                <a:latin typeface="Calibri"/>
              </a:rPr>
              <a:t>DEMO</a:t>
            </a:r>
            <a:endParaRPr b="0" lang="en-US" sz="1000" spc="-1" strike="noStrike">
              <a:solidFill>
                <a:srgbClr val="000000"/>
              </a:solidFill>
              <a:latin typeface="Arial"/>
            </a:endParaRPr>
          </a:p>
        </p:txBody>
      </p:sp>
      <p:sp>
        <p:nvSpPr>
          <p:cNvPr id="224" name="TextBox 16"/>
          <p:cNvSpPr/>
          <p:nvPr/>
        </p:nvSpPr>
        <p:spPr>
          <a:xfrm>
            <a:off x="10698480" y="6580080"/>
            <a:ext cx="100548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1" lang="en-US" sz="1000" spc="-1" strike="noStrike">
                <a:solidFill>
                  <a:srgbClr val="0f1f3a"/>
                </a:solidFill>
                <a:latin typeface="Calibri"/>
              </a:rPr>
              <a:t>9 / 12</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 name="Rectangle 1"/>
          <p:cNvSpPr/>
          <p:nvPr/>
        </p:nvSpPr>
        <p:spPr>
          <a:xfrm>
            <a:off x="0" y="0"/>
            <a:ext cx="12191400" cy="502560"/>
          </a:xfrm>
          <a:prstGeom prst="rect">
            <a:avLst/>
          </a:prstGeom>
          <a:solidFill>
            <a:srgbClr val="0f1f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6" name="TextBox 2"/>
          <p:cNvSpPr/>
          <p:nvPr/>
        </p:nvSpPr>
        <p:spPr>
          <a:xfrm>
            <a:off x="457200" y="640080"/>
            <a:ext cx="11246760" cy="457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3000" spc="-1" strike="noStrike">
                <a:solidFill>
                  <a:srgbClr val="0f1f3a"/>
                </a:solidFill>
                <a:latin typeface="Calibri"/>
              </a:rPr>
              <a:t>Demo · Q2 — Are issues piling up?</a:t>
            </a:r>
            <a:endParaRPr b="0" lang="en-US" sz="3000" spc="-1" strike="noStrike">
              <a:solidFill>
                <a:srgbClr val="000000"/>
              </a:solidFill>
              <a:latin typeface="Arial"/>
            </a:endParaRPr>
          </a:p>
        </p:txBody>
      </p:sp>
      <p:sp>
        <p:nvSpPr>
          <p:cNvPr id="227" name="TextBox 3"/>
          <p:cNvSpPr/>
          <p:nvPr/>
        </p:nvSpPr>
        <p:spPr>
          <a:xfrm>
            <a:off x="457200" y="1115640"/>
            <a:ext cx="1124676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500" spc="-1" strike="noStrike">
                <a:solidFill>
                  <a:srgbClr val="4b5563"/>
                </a:solidFill>
                <a:latin typeface="Calibri"/>
              </a:rPr>
              <a:t>Resolution + Stale Issues · two pages, one answer</a:t>
            </a:r>
            <a:endParaRPr b="0" lang="en-US" sz="1500" spc="-1" strike="noStrike">
              <a:solidFill>
                <a:srgbClr val="000000"/>
              </a:solidFill>
              <a:latin typeface="Arial"/>
            </a:endParaRPr>
          </a:p>
        </p:txBody>
      </p:sp>
      <p:sp>
        <p:nvSpPr>
          <p:cNvPr id="228" name="Rectangle 4"/>
          <p:cNvSpPr/>
          <p:nvPr/>
        </p:nvSpPr>
        <p:spPr>
          <a:xfrm>
            <a:off x="457200" y="1554480"/>
            <a:ext cx="11246760" cy="1476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9880" bIns="-29880" anchor="ctr">
            <a:noAutofit/>
          </a:bodyPr>
          <a:p>
            <a:pPr algn="ctr" defTabSz="457200">
              <a:lnSpc>
                <a:spcPct val="100000"/>
              </a:lnSpc>
            </a:pPr>
            <a:endParaRPr b="0" lang="en-US" sz="1800" spc="-1" strike="noStrike">
              <a:solidFill>
                <a:schemeClr val="lt1"/>
              </a:solidFill>
              <a:latin typeface="Calibri"/>
            </a:endParaRPr>
          </a:p>
        </p:txBody>
      </p:sp>
      <p:pic>
        <p:nvPicPr>
          <p:cNvPr id="229" name="Picture 5" descr="6_resolution.png"/>
          <p:cNvPicPr/>
          <p:nvPr/>
        </p:nvPicPr>
        <p:blipFill>
          <a:blip r:embed="rId1"/>
          <a:stretch/>
        </p:blipFill>
        <p:spPr>
          <a:xfrm>
            <a:off x="457200" y="1783080"/>
            <a:ext cx="5668920" cy="3000960"/>
          </a:xfrm>
          <a:prstGeom prst="rect">
            <a:avLst/>
          </a:prstGeom>
          <a:ln w="0">
            <a:noFill/>
          </a:ln>
        </p:spPr>
      </p:pic>
      <p:sp>
        <p:nvSpPr>
          <p:cNvPr id="230" name="TextBox 6"/>
          <p:cNvSpPr/>
          <p:nvPr/>
        </p:nvSpPr>
        <p:spPr>
          <a:xfrm>
            <a:off x="457200" y="4846320"/>
            <a:ext cx="5668920" cy="1530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000" spc="-1" strike="noStrike">
                <a:solidFill>
                  <a:srgbClr val="4b5563"/>
                </a:solidFill>
                <a:latin typeface="Calibri"/>
              </a:rPr>
              <a:t>Resolution Efficiency</a:t>
            </a:r>
            <a:endParaRPr b="0" lang="en-US" sz="1000" spc="-1" strike="noStrike">
              <a:solidFill>
                <a:srgbClr val="000000"/>
              </a:solidFill>
              <a:latin typeface="Arial"/>
            </a:endParaRPr>
          </a:p>
        </p:txBody>
      </p:sp>
      <p:pic>
        <p:nvPicPr>
          <p:cNvPr id="231" name="Picture 7" descr="5_stale.png"/>
          <p:cNvPicPr/>
          <p:nvPr/>
        </p:nvPicPr>
        <p:blipFill>
          <a:blip r:embed="rId2"/>
          <a:stretch/>
        </p:blipFill>
        <p:spPr>
          <a:xfrm>
            <a:off x="6263640" y="1783080"/>
            <a:ext cx="5668920" cy="3000960"/>
          </a:xfrm>
          <a:prstGeom prst="rect">
            <a:avLst/>
          </a:prstGeom>
          <a:ln w="0">
            <a:noFill/>
          </a:ln>
        </p:spPr>
      </p:pic>
      <p:sp>
        <p:nvSpPr>
          <p:cNvPr id="232" name="TextBox 8"/>
          <p:cNvSpPr/>
          <p:nvPr/>
        </p:nvSpPr>
        <p:spPr>
          <a:xfrm>
            <a:off x="6263640" y="4846320"/>
            <a:ext cx="5668920" cy="1530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000" spc="-1" strike="noStrike">
                <a:solidFill>
                  <a:srgbClr val="4b5563"/>
                </a:solidFill>
                <a:latin typeface="Calibri"/>
              </a:rPr>
              <a:t>Stale Issues</a:t>
            </a:r>
            <a:endParaRPr b="0" lang="en-US" sz="1000" spc="-1" strike="noStrike">
              <a:solidFill>
                <a:srgbClr val="000000"/>
              </a:solidFill>
              <a:latin typeface="Arial"/>
            </a:endParaRPr>
          </a:p>
        </p:txBody>
      </p:sp>
      <p:sp>
        <p:nvSpPr>
          <p:cNvPr id="233" name="Rectangle 9"/>
          <p:cNvSpPr/>
          <p:nvPr/>
        </p:nvSpPr>
        <p:spPr>
          <a:xfrm>
            <a:off x="457200" y="5303520"/>
            <a:ext cx="11246760" cy="105120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4" name="TextBox 10"/>
          <p:cNvSpPr/>
          <p:nvPr/>
        </p:nvSpPr>
        <p:spPr>
          <a:xfrm>
            <a:off x="594360" y="5413320"/>
            <a:ext cx="1097244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0f1f3a"/>
                </a:solidFill>
                <a:latin typeface="Calibri"/>
              </a:rPr>
              <a:t>Headline numbers from the live demo</a:t>
            </a:r>
            <a:endParaRPr b="0" lang="en-US" sz="1200" spc="-1" strike="noStrike">
              <a:solidFill>
                <a:srgbClr val="000000"/>
              </a:solidFill>
              <a:latin typeface="Arial"/>
            </a:endParaRPr>
          </a:p>
        </p:txBody>
      </p:sp>
      <p:sp>
        <p:nvSpPr>
          <p:cNvPr id="235" name="TextBox 11"/>
          <p:cNvSpPr/>
          <p:nvPr/>
        </p:nvSpPr>
        <p:spPr>
          <a:xfrm>
            <a:off x="594360" y="5715000"/>
            <a:ext cx="10972440" cy="209880"/>
          </a:xfrm>
          <a:prstGeom prst="rect">
            <a:avLst/>
          </a:prstGeom>
          <a:noFill/>
          <a:ln w="0">
            <a:noFill/>
          </a:ln>
        </p:spPr>
        <p:style>
          <a:lnRef idx="0"/>
          <a:fillRef idx="0"/>
          <a:effectRef idx="0"/>
          <a:fontRef idx="minor"/>
        </p:style>
        <p:txBody>
          <a:bodyPr lIns="0" rIns="0" tIns="0" bIns="0" anchor="t">
            <a:spAutoFit/>
          </a:bodyPr>
          <a:p>
            <a:pPr defTabSz="457200">
              <a:lnSpc>
                <a:spcPct val="125000"/>
              </a:lnSpc>
              <a:spcAft>
                <a:spcPts val="601"/>
              </a:spcAft>
            </a:pPr>
            <a:r>
              <a:rPr b="1" lang="en-US" sz="1100" spc="-1" strike="noStrike">
                <a:solidFill>
                  <a:srgbClr val="10b981"/>
                </a:solidFill>
                <a:latin typeface="Calibri"/>
              </a:rPr>
              <a:t>▎ </a:t>
            </a:r>
            <a:r>
              <a:rPr b="0" lang="en-US" sz="1100" spc="-1" strike="noStrike">
                <a:solidFill>
                  <a:srgbClr val="1a1d29"/>
                </a:solidFill>
                <a:latin typeface="Calibri"/>
              </a:rPr>
              <a:t>Median days to close: 890   ·   Reopen rate: 2.3%   ·   Stale (&gt;90d): 101   ·   Zombie (&gt;1yr): 371   ·   Active: 0</a:t>
            </a:r>
            <a:endParaRPr b="0" lang="en-US" sz="1100" spc="-1" strike="noStrike">
              <a:solidFill>
                <a:srgbClr val="000000"/>
              </a:solidFill>
              <a:latin typeface="Arial"/>
            </a:endParaRPr>
          </a:p>
        </p:txBody>
      </p:sp>
      <p:sp>
        <p:nvSpPr>
          <p:cNvPr id="236" name="Rectangle 12"/>
          <p:cNvSpPr/>
          <p:nvPr/>
        </p:nvSpPr>
        <p:spPr>
          <a:xfrm>
            <a:off x="0" y="6446520"/>
            <a:ext cx="12191400" cy="4111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7" name="TextBox 13"/>
          <p:cNvSpPr/>
          <p:nvPr/>
        </p:nvSpPr>
        <p:spPr>
          <a:xfrm>
            <a:off x="457200" y="6580080"/>
            <a:ext cx="7314840" cy="1533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pc="-1" strike="noStrike">
                <a:solidFill>
                  <a:srgbClr val="4b5563"/>
                </a:solidFill>
                <a:latin typeface="Calibri"/>
              </a:rPr>
              <a:t>ENPM611 — Poetry Issues Analytics — Team: Collins, Hunt, Shah</a:t>
            </a:r>
            <a:endParaRPr b="0" lang="en-US" sz="1000" spc="-1" strike="noStrike">
              <a:solidFill>
                <a:srgbClr val="000000"/>
              </a:solidFill>
              <a:latin typeface="Arial"/>
            </a:endParaRPr>
          </a:p>
        </p:txBody>
      </p:sp>
      <p:sp>
        <p:nvSpPr>
          <p:cNvPr id="238" name="TextBox 14"/>
          <p:cNvSpPr/>
          <p:nvPr/>
        </p:nvSpPr>
        <p:spPr>
          <a:xfrm>
            <a:off x="7772400" y="6580080"/>
            <a:ext cx="274284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pc="-1" strike="noStrike">
                <a:solidFill>
                  <a:srgbClr val="4b5563"/>
                </a:solidFill>
                <a:latin typeface="Calibri"/>
              </a:rPr>
              <a:t>DEMO</a:t>
            </a:r>
            <a:endParaRPr b="0" lang="en-US" sz="1000" spc="-1" strike="noStrike">
              <a:solidFill>
                <a:srgbClr val="000000"/>
              </a:solidFill>
              <a:latin typeface="Arial"/>
            </a:endParaRPr>
          </a:p>
        </p:txBody>
      </p:sp>
      <p:sp>
        <p:nvSpPr>
          <p:cNvPr id="239" name="TextBox 15"/>
          <p:cNvSpPr/>
          <p:nvPr/>
        </p:nvSpPr>
        <p:spPr>
          <a:xfrm>
            <a:off x="10698480" y="6580080"/>
            <a:ext cx="100548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1" lang="en-US" sz="1000" spc="-1" strike="noStrike">
                <a:solidFill>
                  <a:srgbClr val="0f1f3a"/>
                </a:solidFill>
                <a:latin typeface="Calibri"/>
              </a:rPr>
              <a:t>10 / 12</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Rectangle 1"/>
          <p:cNvSpPr/>
          <p:nvPr/>
        </p:nvSpPr>
        <p:spPr>
          <a:xfrm>
            <a:off x="0" y="0"/>
            <a:ext cx="12191400" cy="502560"/>
          </a:xfrm>
          <a:prstGeom prst="rect">
            <a:avLst/>
          </a:prstGeom>
          <a:solidFill>
            <a:srgbClr val="0f1f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1" name="TextBox 2"/>
          <p:cNvSpPr/>
          <p:nvPr/>
        </p:nvSpPr>
        <p:spPr>
          <a:xfrm>
            <a:off x="457200" y="640080"/>
            <a:ext cx="11246760" cy="457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3000" spc="-1" strike="noStrike">
                <a:solidFill>
                  <a:srgbClr val="0f1f3a"/>
                </a:solidFill>
                <a:latin typeface="Calibri"/>
              </a:rPr>
              <a:t>Demo · Q3 — Is the project sustainably staffed?</a:t>
            </a:r>
            <a:endParaRPr b="0" lang="en-US" sz="3000" spc="-1" strike="noStrike">
              <a:solidFill>
                <a:srgbClr val="000000"/>
              </a:solidFill>
              <a:latin typeface="Arial"/>
            </a:endParaRPr>
          </a:p>
        </p:txBody>
      </p:sp>
      <p:sp>
        <p:nvSpPr>
          <p:cNvPr id="242" name="TextBox 3"/>
          <p:cNvSpPr/>
          <p:nvPr/>
        </p:nvSpPr>
        <p:spPr>
          <a:xfrm>
            <a:off x="457200" y="1115640"/>
            <a:ext cx="1124676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500" spc="-1" strike="noStrike">
                <a:solidFill>
                  <a:srgbClr val="4b5563"/>
                </a:solidFill>
                <a:latin typeface="Calibri"/>
              </a:rPr>
              <a:t>Contributors + Trends · who is keeping the lights on?</a:t>
            </a:r>
            <a:endParaRPr b="0" lang="en-US" sz="1500" spc="-1" strike="noStrike">
              <a:solidFill>
                <a:srgbClr val="000000"/>
              </a:solidFill>
              <a:latin typeface="Arial"/>
            </a:endParaRPr>
          </a:p>
        </p:txBody>
      </p:sp>
      <p:sp>
        <p:nvSpPr>
          <p:cNvPr id="243" name="Rectangle 4"/>
          <p:cNvSpPr/>
          <p:nvPr/>
        </p:nvSpPr>
        <p:spPr>
          <a:xfrm>
            <a:off x="457200" y="1554480"/>
            <a:ext cx="11246760" cy="1476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9880" bIns="-29880" anchor="ctr">
            <a:noAutofit/>
          </a:bodyPr>
          <a:p>
            <a:pPr algn="ctr" defTabSz="457200">
              <a:lnSpc>
                <a:spcPct val="100000"/>
              </a:lnSpc>
            </a:pPr>
            <a:endParaRPr b="0" lang="en-US" sz="1800" spc="-1" strike="noStrike">
              <a:solidFill>
                <a:schemeClr val="lt1"/>
              </a:solidFill>
              <a:latin typeface="Calibri"/>
            </a:endParaRPr>
          </a:p>
        </p:txBody>
      </p:sp>
      <p:pic>
        <p:nvPicPr>
          <p:cNvPr id="244" name="Picture 5" descr="3_contributors.png"/>
          <p:cNvPicPr/>
          <p:nvPr/>
        </p:nvPicPr>
        <p:blipFill>
          <a:blip r:embed="rId1"/>
          <a:stretch/>
        </p:blipFill>
        <p:spPr>
          <a:xfrm>
            <a:off x="457200" y="1783080"/>
            <a:ext cx="5668920" cy="3000960"/>
          </a:xfrm>
          <a:prstGeom prst="rect">
            <a:avLst/>
          </a:prstGeom>
          <a:ln w="0">
            <a:noFill/>
          </a:ln>
        </p:spPr>
      </p:pic>
      <p:sp>
        <p:nvSpPr>
          <p:cNvPr id="245" name="TextBox 6"/>
          <p:cNvSpPr/>
          <p:nvPr/>
        </p:nvSpPr>
        <p:spPr>
          <a:xfrm>
            <a:off x="457200" y="4846320"/>
            <a:ext cx="5668920" cy="1530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000" spc="-1" strike="noStrike">
                <a:solidFill>
                  <a:srgbClr val="4b5563"/>
                </a:solidFill>
                <a:latin typeface="Calibri"/>
              </a:rPr>
              <a:t>Contributors</a:t>
            </a:r>
            <a:endParaRPr b="0" lang="en-US" sz="1000" spc="-1" strike="noStrike">
              <a:solidFill>
                <a:srgbClr val="000000"/>
              </a:solidFill>
              <a:latin typeface="Arial"/>
            </a:endParaRPr>
          </a:p>
        </p:txBody>
      </p:sp>
      <p:pic>
        <p:nvPicPr>
          <p:cNvPr id="246" name="Picture 7" descr="4_trends.png"/>
          <p:cNvPicPr/>
          <p:nvPr/>
        </p:nvPicPr>
        <p:blipFill>
          <a:blip r:embed="rId2"/>
          <a:stretch/>
        </p:blipFill>
        <p:spPr>
          <a:xfrm>
            <a:off x="6263640" y="1783080"/>
            <a:ext cx="5668920" cy="3000960"/>
          </a:xfrm>
          <a:prstGeom prst="rect">
            <a:avLst/>
          </a:prstGeom>
          <a:ln w="0">
            <a:noFill/>
          </a:ln>
        </p:spPr>
      </p:pic>
      <p:sp>
        <p:nvSpPr>
          <p:cNvPr id="247" name="TextBox 8"/>
          <p:cNvSpPr/>
          <p:nvPr/>
        </p:nvSpPr>
        <p:spPr>
          <a:xfrm>
            <a:off x="6263640" y="4846320"/>
            <a:ext cx="5668920" cy="1530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000" spc="-1" strike="noStrike">
                <a:solidFill>
                  <a:srgbClr val="4b5563"/>
                </a:solidFill>
                <a:latin typeface="Calibri"/>
              </a:rPr>
              <a:t>Bug vs Feature Trends</a:t>
            </a:r>
            <a:endParaRPr b="0" lang="en-US" sz="1000" spc="-1" strike="noStrike">
              <a:solidFill>
                <a:srgbClr val="000000"/>
              </a:solidFill>
              <a:latin typeface="Arial"/>
            </a:endParaRPr>
          </a:p>
        </p:txBody>
      </p:sp>
      <p:sp>
        <p:nvSpPr>
          <p:cNvPr id="248" name="Rectangle 9"/>
          <p:cNvSpPr/>
          <p:nvPr/>
        </p:nvSpPr>
        <p:spPr>
          <a:xfrm>
            <a:off x="457200" y="5303520"/>
            <a:ext cx="11246760" cy="105120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9" name="TextBox 10"/>
          <p:cNvSpPr/>
          <p:nvPr/>
        </p:nvSpPr>
        <p:spPr>
          <a:xfrm>
            <a:off x="594360" y="5413320"/>
            <a:ext cx="1097244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endParaRPr b="0" lang="en-US" sz="1800" spc="-1" strike="noStrike">
              <a:solidFill>
                <a:srgbClr val="000000"/>
              </a:solidFill>
              <a:latin typeface="Arial"/>
            </a:endParaRPr>
          </a:p>
        </p:txBody>
      </p:sp>
      <p:sp>
        <p:nvSpPr>
          <p:cNvPr id="250" name="TextBox 11"/>
          <p:cNvSpPr/>
          <p:nvPr/>
        </p:nvSpPr>
        <p:spPr>
          <a:xfrm>
            <a:off x="594360" y="5715000"/>
            <a:ext cx="10972440" cy="209880"/>
          </a:xfrm>
          <a:prstGeom prst="rect">
            <a:avLst/>
          </a:prstGeom>
          <a:noFill/>
          <a:ln w="0">
            <a:noFill/>
          </a:ln>
        </p:spPr>
        <p:style>
          <a:lnRef idx="0"/>
          <a:fillRef idx="0"/>
          <a:effectRef idx="0"/>
          <a:fontRef idx="minor"/>
        </p:style>
        <p:txBody>
          <a:bodyPr lIns="0" rIns="0" tIns="0" bIns="0" anchor="t">
            <a:spAutoFit/>
          </a:bodyPr>
          <a:p>
            <a:pPr defTabSz="457200">
              <a:lnSpc>
                <a:spcPct val="125000"/>
              </a:lnSpc>
              <a:spcAft>
                <a:spcPts val="601"/>
              </a:spcAft>
            </a:pPr>
            <a:r>
              <a:rPr b="1" lang="en-US" sz="1100" spc="-1" strike="noStrike">
                <a:solidFill>
                  <a:srgbClr val="10b981"/>
                </a:solidFill>
                <a:latin typeface="Calibri"/>
              </a:rPr>
              <a:t>▎ </a:t>
            </a:r>
            <a:r>
              <a:rPr b="0" lang="en-US" sz="1100" spc="-1" strike="noStrike">
                <a:solidFill>
                  <a:srgbClr val="1a1d29"/>
                </a:solidFill>
                <a:latin typeface="Calibri"/>
              </a:rPr>
              <a:t>9,772 lifetime contributors   ·   72 active in 90 days   ·   Top human: dimbleby (4,400 events)   ·   Bug:Feature ratio = 3.24</a:t>
            </a:r>
            <a:endParaRPr b="0" lang="en-US" sz="1100" spc="-1" strike="noStrike">
              <a:solidFill>
                <a:srgbClr val="000000"/>
              </a:solidFill>
              <a:latin typeface="Arial"/>
            </a:endParaRPr>
          </a:p>
        </p:txBody>
      </p:sp>
      <p:sp>
        <p:nvSpPr>
          <p:cNvPr id="251" name="Rectangle 12"/>
          <p:cNvSpPr/>
          <p:nvPr/>
        </p:nvSpPr>
        <p:spPr>
          <a:xfrm>
            <a:off x="0" y="6446520"/>
            <a:ext cx="12191400" cy="4111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2" name="TextBox 13"/>
          <p:cNvSpPr/>
          <p:nvPr/>
        </p:nvSpPr>
        <p:spPr>
          <a:xfrm>
            <a:off x="457200" y="6580080"/>
            <a:ext cx="7314840" cy="1533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pc="-1" strike="noStrike">
                <a:solidFill>
                  <a:srgbClr val="4b5563"/>
                </a:solidFill>
                <a:latin typeface="Calibri"/>
              </a:rPr>
              <a:t>ENPM611 — Poetry Issues Analytics — Team: Collins, Hunt, Shah</a:t>
            </a:r>
            <a:endParaRPr b="0" lang="en-US" sz="1000" spc="-1" strike="noStrike">
              <a:solidFill>
                <a:srgbClr val="000000"/>
              </a:solidFill>
              <a:latin typeface="Arial"/>
            </a:endParaRPr>
          </a:p>
        </p:txBody>
      </p:sp>
      <p:sp>
        <p:nvSpPr>
          <p:cNvPr id="253" name="TextBox 14"/>
          <p:cNvSpPr/>
          <p:nvPr/>
        </p:nvSpPr>
        <p:spPr>
          <a:xfrm>
            <a:off x="7772400" y="6580080"/>
            <a:ext cx="274284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pc="-1" strike="noStrike">
                <a:solidFill>
                  <a:srgbClr val="4b5563"/>
                </a:solidFill>
                <a:latin typeface="Calibri"/>
              </a:rPr>
              <a:t>DEMO</a:t>
            </a:r>
            <a:endParaRPr b="0" lang="en-US" sz="1000" spc="-1" strike="noStrike">
              <a:solidFill>
                <a:srgbClr val="000000"/>
              </a:solidFill>
              <a:latin typeface="Arial"/>
            </a:endParaRPr>
          </a:p>
        </p:txBody>
      </p:sp>
      <p:sp>
        <p:nvSpPr>
          <p:cNvPr id="254" name="TextBox 15"/>
          <p:cNvSpPr/>
          <p:nvPr/>
        </p:nvSpPr>
        <p:spPr>
          <a:xfrm>
            <a:off x="10698480" y="6580080"/>
            <a:ext cx="100548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1" lang="en-US" sz="1000" spc="-1" strike="noStrike">
                <a:solidFill>
                  <a:srgbClr val="0f1f3a"/>
                </a:solidFill>
                <a:latin typeface="Calibri"/>
              </a:rPr>
              <a:t>11 / 12</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Rectangle 1"/>
          <p:cNvSpPr/>
          <p:nvPr/>
        </p:nvSpPr>
        <p:spPr>
          <a:xfrm>
            <a:off x="0" y="0"/>
            <a:ext cx="12191400" cy="502560"/>
          </a:xfrm>
          <a:prstGeom prst="rect">
            <a:avLst/>
          </a:prstGeom>
          <a:solidFill>
            <a:srgbClr val="0f1f3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6" name="TextBox 2"/>
          <p:cNvSpPr/>
          <p:nvPr/>
        </p:nvSpPr>
        <p:spPr>
          <a:xfrm>
            <a:off x="457200" y="640080"/>
            <a:ext cx="11246760" cy="457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3000" spc="-1" strike="noStrike">
                <a:solidFill>
                  <a:srgbClr val="0f1f3a"/>
                </a:solidFill>
                <a:latin typeface="Calibri"/>
              </a:rPr>
              <a:t>Findings &amp; lessons learned</a:t>
            </a:r>
            <a:endParaRPr b="0" lang="en-US" sz="3000" spc="-1" strike="noStrike">
              <a:solidFill>
                <a:srgbClr val="000000"/>
              </a:solidFill>
              <a:latin typeface="Arial"/>
            </a:endParaRPr>
          </a:p>
        </p:txBody>
      </p:sp>
      <p:sp>
        <p:nvSpPr>
          <p:cNvPr id="257" name="TextBox 3"/>
          <p:cNvSpPr/>
          <p:nvPr/>
        </p:nvSpPr>
        <p:spPr>
          <a:xfrm>
            <a:off x="457200" y="1115640"/>
            <a:ext cx="11246760" cy="228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500" spc="-1" strike="noStrike">
                <a:solidFill>
                  <a:srgbClr val="4b5563"/>
                </a:solidFill>
                <a:latin typeface="Calibri"/>
              </a:rPr>
              <a:t>Three takeaways from the analysis · three lessons from the process</a:t>
            </a:r>
            <a:endParaRPr b="0" lang="en-US" sz="1500" spc="-1" strike="noStrike">
              <a:solidFill>
                <a:srgbClr val="000000"/>
              </a:solidFill>
              <a:latin typeface="Arial"/>
            </a:endParaRPr>
          </a:p>
        </p:txBody>
      </p:sp>
      <p:sp>
        <p:nvSpPr>
          <p:cNvPr id="258" name="Rectangle 4"/>
          <p:cNvSpPr/>
          <p:nvPr/>
        </p:nvSpPr>
        <p:spPr>
          <a:xfrm>
            <a:off x="457200" y="1554480"/>
            <a:ext cx="11246760" cy="14760"/>
          </a:xfrm>
          <a:prstGeom prst="rect">
            <a:avLst/>
          </a:prstGeom>
          <a:solidFill>
            <a:srgbClr val="e5e7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9880" bIns="-29880" anchor="ctr">
            <a:noAutofit/>
          </a:bodyPr>
          <a:p>
            <a:pPr algn="ctr" defTabSz="457200">
              <a:lnSpc>
                <a:spcPct val="100000"/>
              </a:lnSpc>
            </a:pPr>
            <a:endParaRPr b="0" lang="en-US" sz="1800" spc="-1" strike="noStrike">
              <a:solidFill>
                <a:schemeClr val="lt1"/>
              </a:solidFill>
              <a:latin typeface="Calibri"/>
            </a:endParaRPr>
          </a:p>
        </p:txBody>
      </p:sp>
      <p:sp>
        <p:nvSpPr>
          <p:cNvPr id="259" name="TextBox 5"/>
          <p:cNvSpPr/>
          <p:nvPr/>
        </p:nvSpPr>
        <p:spPr>
          <a:xfrm>
            <a:off x="457200" y="1828800"/>
            <a:ext cx="548604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f1f3a"/>
                </a:solidFill>
                <a:latin typeface="Calibri"/>
              </a:rPr>
              <a:t>What the data told us about Poetry</a:t>
            </a:r>
            <a:endParaRPr b="0" lang="en-US" sz="1400" spc="-1" strike="noStrike">
              <a:solidFill>
                <a:srgbClr val="000000"/>
              </a:solidFill>
              <a:latin typeface="Arial"/>
            </a:endParaRPr>
          </a:p>
        </p:txBody>
      </p:sp>
      <p:sp>
        <p:nvSpPr>
          <p:cNvPr id="260" name="TextBox 6"/>
          <p:cNvSpPr/>
          <p:nvPr/>
        </p:nvSpPr>
        <p:spPr>
          <a:xfrm>
            <a:off x="457200" y="2240280"/>
            <a:ext cx="5486040" cy="1580760"/>
          </a:xfrm>
          <a:prstGeom prst="rect">
            <a:avLst/>
          </a:prstGeom>
          <a:noFill/>
          <a:ln w="0">
            <a:noFill/>
          </a:ln>
        </p:spPr>
        <p:style>
          <a:lnRef idx="0"/>
          <a:fillRef idx="0"/>
          <a:effectRef idx="0"/>
          <a:fontRef idx="minor"/>
        </p:style>
        <p:txBody>
          <a:bodyPr lIns="0" rIns="0" tIns="0" bIns="0" anchor="t">
            <a:spAutoFit/>
          </a:bodyPr>
          <a:p>
            <a:pPr defTabSz="457200">
              <a:lnSpc>
                <a:spcPct val="125000"/>
              </a:lnSpc>
              <a:spcAft>
                <a:spcPts val="601"/>
              </a:spcAft>
            </a:pPr>
            <a:r>
              <a:rPr b="1" lang="en-US" sz="1250" spc="-1" strike="noStrike">
                <a:solidFill>
                  <a:srgbClr val="10b981"/>
                </a:solidFill>
                <a:latin typeface="Calibri"/>
              </a:rPr>
              <a:t>▎ </a:t>
            </a:r>
            <a:r>
              <a:rPr b="0" lang="en-US" sz="1250" spc="-1" strike="noStrike">
                <a:solidFill>
                  <a:srgbClr val="1a1d29"/>
                </a:solidFill>
                <a:latin typeface="Calibri"/>
              </a:rPr>
              <a:t>Front-door triage is fast (most issues answered in &lt;1h) — but 16% of issues never get a label</a:t>
            </a:r>
            <a:endParaRPr b="0" lang="en-US" sz="1250" spc="-1" strike="noStrike">
              <a:solidFill>
                <a:srgbClr val="000000"/>
              </a:solidFill>
              <a:latin typeface="Arial"/>
            </a:endParaRPr>
          </a:p>
          <a:p>
            <a:pPr defTabSz="457200">
              <a:lnSpc>
                <a:spcPct val="125000"/>
              </a:lnSpc>
              <a:spcAft>
                <a:spcPts val="601"/>
              </a:spcAft>
            </a:pPr>
            <a:r>
              <a:rPr b="1" lang="en-US" sz="1250" spc="-1" strike="noStrike">
                <a:solidFill>
                  <a:srgbClr val="10b981"/>
                </a:solidFill>
                <a:latin typeface="Calibri"/>
              </a:rPr>
              <a:t>▎ </a:t>
            </a:r>
            <a:r>
              <a:rPr b="0" lang="en-US" sz="1250" spc="-1" strike="noStrike">
                <a:solidFill>
                  <a:srgbClr val="1a1d29"/>
                </a:solidFill>
                <a:latin typeface="Calibri"/>
              </a:rPr>
              <a:t>Backlog is skewed old: 70% of open issues are &gt;1yr idle; median time to close is ~2.5 years</a:t>
            </a:r>
            <a:endParaRPr b="0" lang="en-US" sz="1250" spc="-1" strike="noStrike">
              <a:solidFill>
                <a:srgbClr val="000000"/>
              </a:solidFill>
              <a:latin typeface="Arial"/>
            </a:endParaRPr>
          </a:p>
          <a:p>
            <a:pPr defTabSz="457200">
              <a:lnSpc>
                <a:spcPct val="125000"/>
              </a:lnSpc>
              <a:spcAft>
                <a:spcPts val="601"/>
              </a:spcAft>
            </a:pPr>
            <a:r>
              <a:rPr b="1" lang="en-US" sz="1250" spc="-1" strike="noStrike">
                <a:solidFill>
                  <a:srgbClr val="10b981"/>
                </a:solidFill>
                <a:latin typeface="Calibri"/>
              </a:rPr>
              <a:t>▎ </a:t>
            </a:r>
            <a:r>
              <a:rPr b="0" lang="en-US" sz="1250" spc="-1" strike="noStrike">
                <a:solidFill>
                  <a:srgbClr val="1a1d29"/>
                </a:solidFill>
                <a:latin typeface="Calibri"/>
              </a:rPr>
              <a:t>A handful of humans (and one bot) carry recent activity — truck factor is the headline risk</a:t>
            </a:r>
            <a:endParaRPr b="0" lang="en-US" sz="1250" spc="-1" strike="noStrike">
              <a:solidFill>
                <a:srgbClr val="000000"/>
              </a:solidFill>
              <a:latin typeface="Arial"/>
            </a:endParaRPr>
          </a:p>
        </p:txBody>
      </p:sp>
      <p:sp>
        <p:nvSpPr>
          <p:cNvPr id="261" name="TextBox 7"/>
          <p:cNvSpPr/>
          <p:nvPr/>
        </p:nvSpPr>
        <p:spPr>
          <a:xfrm>
            <a:off x="6400800" y="1828800"/>
            <a:ext cx="530316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f1f3a"/>
                </a:solidFill>
                <a:latin typeface="Calibri"/>
              </a:rPr>
              <a:t>What the project taught us</a:t>
            </a:r>
            <a:endParaRPr b="0" lang="en-US" sz="1400" spc="-1" strike="noStrike">
              <a:solidFill>
                <a:srgbClr val="000000"/>
              </a:solidFill>
              <a:latin typeface="Arial"/>
            </a:endParaRPr>
          </a:p>
        </p:txBody>
      </p:sp>
      <p:sp>
        <p:nvSpPr>
          <p:cNvPr id="262" name="TextBox 8"/>
          <p:cNvSpPr/>
          <p:nvPr/>
        </p:nvSpPr>
        <p:spPr>
          <a:xfrm>
            <a:off x="6400800" y="2240280"/>
            <a:ext cx="5303160" cy="1580760"/>
          </a:xfrm>
          <a:prstGeom prst="rect">
            <a:avLst/>
          </a:prstGeom>
          <a:noFill/>
          <a:ln w="0">
            <a:noFill/>
          </a:ln>
        </p:spPr>
        <p:style>
          <a:lnRef idx="0"/>
          <a:fillRef idx="0"/>
          <a:effectRef idx="0"/>
          <a:fontRef idx="minor"/>
        </p:style>
        <p:txBody>
          <a:bodyPr lIns="0" rIns="0" tIns="0" bIns="0" anchor="t">
            <a:spAutoFit/>
          </a:bodyPr>
          <a:p>
            <a:pPr defTabSz="457200">
              <a:lnSpc>
                <a:spcPct val="125000"/>
              </a:lnSpc>
              <a:spcAft>
                <a:spcPts val="601"/>
              </a:spcAft>
            </a:pPr>
            <a:r>
              <a:rPr b="1" lang="en-US" sz="1250" spc="-1" strike="noStrike">
                <a:solidFill>
                  <a:srgbClr val="10b981"/>
                </a:solidFill>
                <a:latin typeface="Calibri"/>
              </a:rPr>
              <a:t>▎ </a:t>
            </a:r>
            <a:r>
              <a:rPr b="0" lang="en-US" sz="1250" spc="-1" strike="noStrike">
                <a:solidFill>
                  <a:srgbClr val="1a1d29"/>
                </a:solidFill>
                <a:latin typeface="Calibri"/>
              </a:rPr>
              <a:t>Design the access pattern, not just the data model — pick the data shape that fits the questions</a:t>
            </a:r>
            <a:endParaRPr b="0" lang="en-US" sz="1250" spc="-1" strike="noStrike">
              <a:solidFill>
                <a:srgbClr val="000000"/>
              </a:solidFill>
              <a:latin typeface="Arial"/>
            </a:endParaRPr>
          </a:p>
          <a:p>
            <a:pPr defTabSz="457200">
              <a:lnSpc>
                <a:spcPct val="125000"/>
              </a:lnSpc>
              <a:spcAft>
                <a:spcPts val="601"/>
              </a:spcAft>
            </a:pPr>
            <a:r>
              <a:rPr b="1" lang="en-US" sz="1250" spc="-1" strike="noStrike">
                <a:solidFill>
                  <a:srgbClr val="10b981"/>
                </a:solidFill>
                <a:latin typeface="Calibri"/>
              </a:rPr>
              <a:t>▎ </a:t>
            </a:r>
            <a:r>
              <a:rPr b="0" lang="en-US" sz="1250" spc="-1" strike="noStrike">
                <a:solidFill>
                  <a:srgbClr val="1a1d29"/>
                </a:solidFill>
                <a:latin typeface="Calibri"/>
              </a:rPr>
              <a:t>Mock the framework, not the function — testing Streamlit pages with a MagicMock and runpy worked surprisingly well</a:t>
            </a:r>
            <a:endParaRPr b="0" lang="en-US" sz="1250" spc="-1" strike="noStrike">
              <a:solidFill>
                <a:srgbClr val="000000"/>
              </a:solidFill>
              <a:latin typeface="Arial"/>
            </a:endParaRPr>
          </a:p>
          <a:p>
            <a:pPr defTabSz="457200">
              <a:lnSpc>
                <a:spcPct val="125000"/>
              </a:lnSpc>
              <a:spcAft>
                <a:spcPts val="601"/>
              </a:spcAft>
            </a:pPr>
            <a:r>
              <a:rPr b="1" lang="en-US" sz="1250" spc="-1" strike="noStrike">
                <a:solidFill>
                  <a:srgbClr val="10b981"/>
                </a:solidFill>
                <a:latin typeface="Calibri"/>
              </a:rPr>
              <a:t>▎ </a:t>
            </a:r>
            <a:r>
              <a:rPr b="0" lang="en-US" sz="1250" spc="-1" strike="noStrike">
                <a:solidFill>
                  <a:srgbClr val="1a1d29"/>
                </a:solidFill>
                <a:latin typeface="Calibri"/>
              </a:rPr>
              <a:t>Build the smallest dashboard you can defend, then let the data tell you which metrics matter</a:t>
            </a:r>
            <a:endParaRPr b="0" lang="en-US" sz="1250" spc="-1" strike="noStrike">
              <a:solidFill>
                <a:srgbClr val="000000"/>
              </a:solidFill>
              <a:latin typeface="Arial"/>
            </a:endParaRPr>
          </a:p>
        </p:txBody>
      </p:sp>
      <p:sp>
        <p:nvSpPr>
          <p:cNvPr id="263" name="Rectangle 9"/>
          <p:cNvSpPr/>
          <p:nvPr/>
        </p:nvSpPr>
        <p:spPr>
          <a:xfrm>
            <a:off x="457200" y="5029200"/>
            <a:ext cx="11246760" cy="127980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4" name="TextBox 10"/>
          <p:cNvSpPr/>
          <p:nvPr/>
        </p:nvSpPr>
        <p:spPr>
          <a:xfrm>
            <a:off x="457200" y="5166360"/>
            <a:ext cx="11246760" cy="3355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2200" spc="-1" strike="noStrike">
                <a:solidFill>
                  <a:srgbClr val="0f1f3a"/>
                </a:solidFill>
                <a:latin typeface="Calibri"/>
              </a:rPr>
              <a:t>Thank you — questions?</a:t>
            </a:r>
            <a:endParaRPr b="0" lang="en-US" sz="2200" spc="-1" strike="noStrike">
              <a:solidFill>
                <a:srgbClr val="000000"/>
              </a:solidFill>
              <a:latin typeface="Arial"/>
            </a:endParaRPr>
          </a:p>
        </p:txBody>
      </p:sp>
      <p:sp>
        <p:nvSpPr>
          <p:cNvPr id="265" name="TextBox 11"/>
          <p:cNvSpPr/>
          <p:nvPr/>
        </p:nvSpPr>
        <p:spPr>
          <a:xfrm>
            <a:off x="457200" y="5669280"/>
            <a:ext cx="11246760" cy="1832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200" spc="-1" strike="noStrike">
                <a:solidFill>
                  <a:srgbClr val="4b5563"/>
                </a:solidFill>
                <a:latin typeface="Calibri"/>
              </a:rPr>
              <a:t>Repository: github.com/shivshahh/enpm611-project   ·   Run: python run.py --feature 3   ·   Tests: pytest tests/</a:t>
            </a:r>
            <a:endParaRPr b="0" lang="en-US" sz="1200" spc="-1" strike="noStrike">
              <a:solidFill>
                <a:srgbClr val="000000"/>
              </a:solidFill>
              <a:latin typeface="Arial"/>
            </a:endParaRPr>
          </a:p>
        </p:txBody>
      </p:sp>
      <p:sp>
        <p:nvSpPr>
          <p:cNvPr id="266" name="TextBox 12"/>
          <p:cNvSpPr/>
          <p:nvPr/>
        </p:nvSpPr>
        <p:spPr>
          <a:xfrm>
            <a:off x="457200" y="6035040"/>
            <a:ext cx="11246760" cy="1832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200" spc="-1" strike="noStrike">
                <a:solidFill>
                  <a:srgbClr val="4b5563"/>
                </a:solidFill>
                <a:latin typeface="Calibri"/>
              </a:rPr>
              <a:t>Team: Chris Collins · Michael Hunt · Shiv Shah</a:t>
            </a:r>
            <a:endParaRPr b="0" lang="en-US" sz="1200" spc="-1" strike="noStrike">
              <a:solidFill>
                <a:srgbClr val="000000"/>
              </a:solidFill>
              <a:latin typeface="Arial"/>
            </a:endParaRPr>
          </a:p>
        </p:txBody>
      </p:sp>
      <p:sp>
        <p:nvSpPr>
          <p:cNvPr id="267" name="Rectangle 13"/>
          <p:cNvSpPr/>
          <p:nvPr/>
        </p:nvSpPr>
        <p:spPr>
          <a:xfrm>
            <a:off x="0" y="6446520"/>
            <a:ext cx="12191400" cy="411120"/>
          </a:xfrm>
          <a:prstGeom prst="rect">
            <a:avLst/>
          </a:prstGeom>
          <a:solidFill>
            <a:srgbClr val="f7f8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8" name="TextBox 14"/>
          <p:cNvSpPr/>
          <p:nvPr/>
        </p:nvSpPr>
        <p:spPr>
          <a:xfrm>
            <a:off x="457200" y="6580080"/>
            <a:ext cx="7314840" cy="153360"/>
          </a:xfrm>
          <a:prstGeom prst="rect">
            <a:avLst/>
          </a:prstGeom>
          <a:noFill/>
          <a:ln w="0">
            <a:noFill/>
          </a:ln>
        </p:spPr>
        <p:style>
          <a:lnRef idx="0"/>
          <a:fillRef idx="0"/>
          <a:effectRef idx="0"/>
          <a:fontRef idx="minor"/>
        </p:style>
        <p:txBody>
          <a:bodyPr lIns="0" rIns="0" tIns="0" bIns="0" anchor="ctr">
            <a:spAutoFit/>
          </a:bodyPr>
          <a:p>
            <a:pPr defTabSz="457200">
              <a:lnSpc>
                <a:spcPct val="100000"/>
              </a:lnSpc>
            </a:pPr>
            <a:r>
              <a:rPr b="0" lang="en-US" sz="1000" spc="-1" strike="noStrike">
                <a:solidFill>
                  <a:srgbClr val="4b5563"/>
                </a:solidFill>
                <a:latin typeface="Calibri"/>
              </a:rPr>
              <a:t>ENPM611 — Poetry Issues Analytics — Team: Collins, Hunt, Shah</a:t>
            </a:r>
            <a:endParaRPr b="0" lang="en-US" sz="1000" spc="-1" strike="noStrike">
              <a:solidFill>
                <a:srgbClr val="000000"/>
              </a:solidFill>
              <a:latin typeface="Arial"/>
            </a:endParaRPr>
          </a:p>
        </p:txBody>
      </p:sp>
      <p:sp>
        <p:nvSpPr>
          <p:cNvPr id="269" name="TextBox 15"/>
          <p:cNvSpPr/>
          <p:nvPr/>
        </p:nvSpPr>
        <p:spPr>
          <a:xfrm>
            <a:off x="7772400" y="6580080"/>
            <a:ext cx="274284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0" lang="en-US" sz="1000" spc="-1" strike="noStrike">
                <a:solidFill>
                  <a:srgbClr val="4b5563"/>
                </a:solidFill>
                <a:latin typeface="Calibri"/>
              </a:rPr>
              <a:t>WRAP</a:t>
            </a:r>
            <a:endParaRPr b="0" lang="en-US" sz="1000" spc="-1" strike="noStrike">
              <a:solidFill>
                <a:srgbClr val="000000"/>
              </a:solidFill>
              <a:latin typeface="Arial"/>
            </a:endParaRPr>
          </a:p>
        </p:txBody>
      </p:sp>
      <p:sp>
        <p:nvSpPr>
          <p:cNvPr id="270" name="TextBox 16"/>
          <p:cNvSpPr/>
          <p:nvPr/>
        </p:nvSpPr>
        <p:spPr>
          <a:xfrm>
            <a:off x="10698480" y="6580080"/>
            <a:ext cx="1005480" cy="153360"/>
          </a:xfrm>
          <a:prstGeom prst="rect">
            <a:avLst/>
          </a:prstGeom>
          <a:noFill/>
          <a:ln w="0">
            <a:noFill/>
          </a:ln>
        </p:spPr>
        <p:style>
          <a:lnRef idx="0"/>
          <a:fillRef idx="0"/>
          <a:effectRef idx="0"/>
          <a:fontRef idx="minor"/>
        </p:style>
        <p:txBody>
          <a:bodyPr lIns="0" rIns="0" tIns="0" bIns="0" anchor="ctr">
            <a:spAutoFit/>
          </a:bodyPr>
          <a:p>
            <a:pPr algn="r" defTabSz="457200">
              <a:lnSpc>
                <a:spcPct val="100000"/>
              </a:lnSpc>
            </a:pPr>
            <a:r>
              <a:rPr b="1" lang="en-US" sz="1000" spc="-1" strike="noStrike">
                <a:solidFill>
                  <a:srgbClr val="0f1f3a"/>
                </a:solidFill>
                <a:latin typeface="Calibri"/>
              </a:rPr>
              <a:t>12 / 12</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3</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2026-05-05T21:14:20Z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