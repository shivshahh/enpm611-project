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U9mIA0CtkTHFAFJ6JJD2059Ot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0" y="7642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def4f4d68b_0_4:notes"/>
          <p:cNvSpPr/>
          <p:nvPr>
            <p:ph idx="2" type="sldImg"/>
          </p:nvPr>
        </p:nvSpPr>
        <p:spPr>
          <a:xfrm>
            <a:off x="1143000" y="685800"/>
            <a:ext cx="45717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g3def4f4d68b_0_4:notes"/>
          <p:cNvSpPr txBox="1"/>
          <p:nvPr>
            <p:ph idx="1" type="body"/>
          </p:nvPr>
        </p:nvSpPr>
        <p:spPr>
          <a:xfrm>
            <a:off x="685800" y="4343400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3def4f4d68b_0_4:notes"/>
          <p:cNvSpPr txBox="1"/>
          <p:nvPr>
            <p:ph idx="12" type="sldNum"/>
          </p:nvPr>
        </p:nvSpPr>
        <p:spPr>
          <a:xfrm>
            <a:off x="3884760" y="8685360"/>
            <a:ext cx="29715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ef4f4d68b_0_54:notes"/>
          <p:cNvSpPr/>
          <p:nvPr>
            <p:ph idx="2" type="sldImg"/>
          </p:nvPr>
        </p:nvSpPr>
        <p:spPr>
          <a:xfrm>
            <a:off x="0" y="7642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ef4f4d68b_0_54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def4f4d68b_0_5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000" y="685800"/>
            <a:ext cx="457164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000" y="685800"/>
            <a:ext cx="45717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:notes"/>
          <p:cNvSpPr txBox="1"/>
          <p:nvPr>
            <p:ph idx="12" type="sldNum"/>
          </p:nvPr>
        </p:nvSpPr>
        <p:spPr>
          <a:xfrm>
            <a:off x="3884760" y="8685360"/>
            <a:ext cx="29715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13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13"/>
          <p:cNvSpPr txBox="1"/>
          <p:nvPr>
            <p:ph idx="1"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F3A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0" y="3291840"/>
            <a:ext cx="12191400" cy="36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31520" y="1828800"/>
            <a:ext cx="10698120" cy="21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ENPM611 — Software Engineering   |   Final Project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31520" y="2331720"/>
            <a:ext cx="10698120" cy="82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Poetry Issues Analytics</a:t>
            </a:r>
            <a:endParaRPr b="0" i="0" sz="5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31520" y="3383280"/>
            <a:ext cx="10698120" cy="30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Multi</a:t>
            </a:r>
            <a:r>
              <a:rPr lang="en-US" sz="2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-Feature Application of GitHub Issues for the Poetry </a:t>
            </a:r>
            <a:r>
              <a:rPr lang="en-US" sz="2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731520" y="4937760"/>
            <a:ext cx="10698120" cy="18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31520" y="5257800"/>
            <a:ext cx="10698120" cy="30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Chris Collins   ·   Michael Hunt   ·   Shiv Shah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31520" y="5943600"/>
            <a:ext cx="10698120" cy="18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15-minute presentation: 10 min talk + 5 min live demo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def4f4d68b_0_4"/>
          <p:cNvSpPr/>
          <p:nvPr/>
        </p:nvSpPr>
        <p:spPr>
          <a:xfrm>
            <a:off x="0" y="0"/>
            <a:ext cx="12191400" cy="502500"/>
          </a:xfrm>
          <a:prstGeom prst="rect">
            <a:avLst/>
          </a:prstGeom>
          <a:solidFill>
            <a:srgbClr val="0F1F3A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3def4f4d68b_0_4"/>
          <p:cNvSpPr/>
          <p:nvPr/>
        </p:nvSpPr>
        <p:spPr>
          <a:xfrm>
            <a:off x="457200" y="640080"/>
            <a:ext cx="112467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3def4f4d68b_0_4"/>
          <p:cNvSpPr/>
          <p:nvPr/>
        </p:nvSpPr>
        <p:spPr>
          <a:xfrm>
            <a:off x="457200" y="1115640"/>
            <a:ext cx="112467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Approach and Design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3def4f4d68b_0_4"/>
          <p:cNvSpPr/>
          <p:nvPr/>
        </p:nvSpPr>
        <p:spPr>
          <a:xfrm>
            <a:off x="457200" y="1554480"/>
            <a:ext cx="11246700" cy="14700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def4f4d68b_0_4"/>
          <p:cNvSpPr/>
          <p:nvPr/>
        </p:nvSpPr>
        <p:spPr>
          <a:xfrm>
            <a:off x="457200" y="1828800"/>
            <a:ext cx="54861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def4f4d68b_0_4"/>
          <p:cNvSpPr/>
          <p:nvPr/>
        </p:nvSpPr>
        <p:spPr>
          <a:xfrm>
            <a:off x="457200" y="2175035"/>
            <a:ext cx="54861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lang="en-US" sz="16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Waterfall Methodology (Separate Phases)</a:t>
            </a:r>
            <a:endParaRPr sz="1600">
              <a:solidFill>
                <a:srgbClr val="1A1D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lang="en-US" sz="16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	Requirements</a:t>
            </a:r>
            <a:endParaRPr sz="1600">
              <a:solidFill>
                <a:srgbClr val="1A1D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lang="en-US" sz="16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	Design</a:t>
            </a:r>
            <a:endParaRPr sz="1600">
              <a:solidFill>
                <a:srgbClr val="1A1D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lang="en-US" sz="16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	Implementation</a:t>
            </a:r>
            <a:endParaRPr sz="1600">
              <a:solidFill>
                <a:srgbClr val="1A1D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lang="en-US" sz="16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	Testing</a:t>
            </a:r>
            <a:endParaRPr sz="1600"/>
          </a:p>
        </p:txBody>
      </p:sp>
      <p:sp>
        <p:nvSpPr>
          <p:cNvPr id="43" name="Google Shape;43;g3def4f4d68b_0_4"/>
          <p:cNvSpPr/>
          <p:nvPr/>
        </p:nvSpPr>
        <p:spPr>
          <a:xfrm>
            <a:off x="457200" y="4297680"/>
            <a:ext cx="54861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3def4f4d68b_0_4"/>
          <p:cNvSpPr/>
          <p:nvPr/>
        </p:nvSpPr>
        <p:spPr>
          <a:xfrm>
            <a:off x="457200" y="4663440"/>
            <a:ext cx="54861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b="0" i="0" lang="en-US" sz="16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DataLoader · config · model.Issue · model.Event</a:t>
            </a:r>
            <a:endParaRPr b="0" i="0" sz="1600" u="none" cap="none" strike="noStrike">
              <a:solidFill>
                <a:srgbClr val="1A1D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6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lang="en-US" sz="16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IssuePull</a:t>
            </a:r>
            <a:endParaRPr sz="1600">
              <a:solidFill>
                <a:srgbClr val="1A1D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b="0" i="0" lang="en-US" sz="16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ExampleAnalysis · LabelsAnalysis · dash</a:t>
            </a:r>
            <a:r>
              <a:rPr lang="en-US" sz="16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board/</a:t>
            </a:r>
            <a:endParaRPr sz="1600">
              <a:solidFill>
                <a:srgbClr val="1A1D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b="0" i="0" lang="en-US" sz="16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run.py wires everything to a --feature flag</a:t>
            </a:r>
            <a:endParaRPr b="0" i="0" sz="1600" u="none" cap="none" strike="noStrike">
              <a:solidFill>
                <a:srgbClr val="1A1D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1D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def4f4d68b_0_4"/>
          <p:cNvSpPr/>
          <p:nvPr/>
        </p:nvSpPr>
        <p:spPr>
          <a:xfrm>
            <a:off x="6400800" y="1828800"/>
            <a:ext cx="53031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3def4f4d68b_0_4"/>
          <p:cNvSpPr/>
          <p:nvPr/>
        </p:nvSpPr>
        <p:spPr>
          <a:xfrm>
            <a:off x="6400800" y="2194560"/>
            <a:ext cx="5303100" cy="16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</a:t>
            </a:r>
            <a:r>
              <a:rPr lang="en-US" sz="16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config.json + env override for the data file path</a:t>
            </a: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</a:t>
            </a:r>
            <a:r>
              <a:rPr lang="en-US" sz="16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Two graph analyses within a feature</a:t>
            </a:r>
            <a:endParaRPr sz="1600">
              <a:solidFill>
                <a:srgbClr val="1A1D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</a:t>
            </a:r>
            <a:r>
              <a:rPr lang="en-US" sz="16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One pure CLI analysis</a:t>
            </a:r>
            <a:endParaRPr sz="1600">
              <a:solidFill>
                <a:srgbClr val="1A1D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</a:t>
            </a:r>
            <a:r>
              <a:rPr lang="en-US" sz="16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One interactive dashboard analysis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3def4f4d68b_0_4"/>
          <p:cNvSpPr/>
          <p:nvPr/>
        </p:nvSpPr>
        <p:spPr>
          <a:xfrm>
            <a:off x="0" y="6446520"/>
            <a:ext cx="12191400" cy="411000"/>
          </a:xfrm>
          <a:prstGeom prst="rect">
            <a:avLst/>
          </a:prstGeom>
          <a:solidFill>
            <a:srgbClr val="F7F8FA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def4f4d68b_0_4"/>
          <p:cNvSpPr/>
          <p:nvPr/>
        </p:nvSpPr>
        <p:spPr>
          <a:xfrm>
            <a:off x="457200" y="6580080"/>
            <a:ext cx="73149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ENPM611 — Poetry Issues Analytics — Team: Collins, Hunt, Shah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def4f4d68b_0_4"/>
          <p:cNvSpPr/>
          <p:nvPr/>
        </p:nvSpPr>
        <p:spPr>
          <a:xfrm>
            <a:off x="7772400" y="6580080"/>
            <a:ext cx="27429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3def4f4d68b_0_4"/>
          <p:cNvSpPr/>
          <p:nvPr/>
        </p:nvSpPr>
        <p:spPr>
          <a:xfrm>
            <a:off x="10698480" y="6580080"/>
            <a:ext cx="10056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000" u="none" cap="none" strike="noStrike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b="1" lang="en-US" sz="10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3def4f4d68b_0_4"/>
          <p:cNvSpPr/>
          <p:nvPr/>
        </p:nvSpPr>
        <p:spPr>
          <a:xfrm>
            <a:off x="6400800" y="4297663"/>
            <a:ext cx="53031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3def4f4d68b_0_4"/>
          <p:cNvSpPr txBox="1"/>
          <p:nvPr/>
        </p:nvSpPr>
        <p:spPr>
          <a:xfrm>
            <a:off x="6275300" y="4736350"/>
            <a:ext cx="4975500" cy="16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6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lang="en-US" sz="16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Tests: Designed to achieve 90%+ code coverage across files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0F1F3A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57200" y="640080"/>
            <a:ext cx="11246760" cy="45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Initial </a:t>
            </a:r>
            <a:r>
              <a:rPr b="1" lang="en-US" sz="30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r>
              <a:rPr b="1" i="0" lang="en-US" sz="3000" u="none" cap="none" strike="noStrike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 (Milestone 1)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1115640"/>
            <a:ext cx="11246760" cy="22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What we submitted: a class diagram + ERD for the CLI app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" y="1554480"/>
            <a:ext cx="11246760" cy="14760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444450" y="1774975"/>
            <a:ext cx="53031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Plan at submission time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429025" y="2194610"/>
            <a:ext cx="5303100" cy="16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b="0" i="0" lang="en-US" sz="18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Three CLI analyses, each printing tables + matplotlib charts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b="0" i="0" lang="en-US" sz="18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Object-graph data model: Issue holds a list of Event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b="0" i="0" lang="en-US" sz="18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config.json + env override for the data file path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b="0" i="0" lang="en-US" sz="18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Tests: not yet scoped (Milestone 1 was design only)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b="0" i="0" lang="en-US" sz="18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Diagrams committed to /diagrams as the source of truth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318913" y="5928010"/>
            <a:ext cx="53031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Note: there was no dashboard, no DataFrame layer, and no derived metrics in the original design.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0" y="6446520"/>
            <a:ext cx="12191400" cy="411120"/>
          </a:xfrm>
          <a:prstGeom prst="rect">
            <a:avLst/>
          </a:prstGeom>
          <a:solidFill>
            <a:srgbClr val="F7F8FA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57200" y="6580080"/>
            <a:ext cx="7314840" cy="15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ENPM611 — Poetry Issues Analytics — Team: Collins, Hunt, Shah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772400" y="6580080"/>
            <a:ext cx="2742840" cy="15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698480" y="6580080"/>
            <a:ext cx="1005480" cy="15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000" u="none" cap="none" strike="noStrike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b="1" lang="en-US" sz="10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550" y="1693150"/>
            <a:ext cx="3052700" cy="46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67387" y="1626512"/>
            <a:ext cx="3179739" cy="4762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0F1F3A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57200" y="640080"/>
            <a:ext cx="11246760" cy="45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457200" y="1115640"/>
            <a:ext cx="11246760" cy="22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CLI analyses + a multi-page Streamlit dashboard over 6,453 GitHub issues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457200" y="1554480"/>
            <a:ext cx="11246760" cy="14760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57200" y="2010975"/>
            <a:ext cx="4802100" cy="3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b="0" i="0" lang="en-US" sz="15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3 CLI features (run.py --feature </a:t>
            </a:r>
            <a:r>
              <a:rPr lang="en-US" sz="15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0/1/2</a:t>
            </a:r>
            <a:r>
              <a:rPr b="0" i="0" lang="en-US" sz="15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): Example </a:t>
            </a:r>
            <a:r>
              <a:rPr lang="en-US" sz="15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Analysis, </a:t>
            </a:r>
            <a:r>
              <a:rPr lang="en-US" sz="15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Labels Analysis, State Analysis</a:t>
            </a:r>
            <a:endParaRPr sz="1500">
              <a:solidFill>
                <a:srgbClr val="1A1D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lang="en-US" sz="15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2 graph analysis (run.py --feature 1): Label occurrences across issues and average time to close label</a:t>
            </a:r>
            <a:endParaRPr sz="1500">
              <a:solidFill>
                <a:srgbClr val="1A1D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lang="en-US" sz="15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1 CLI output (run.py --feature 2): Closed/Open status of issues</a:t>
            </a:r>
            <a:endParaRPr sz="1500">
              <a:solidFill>
                <a:srgbClr val="1A1D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b="0" i="0" lang="en-US" sz="15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1 dashboard feature (--feature 3): </a:t>
            </a:r>
            <a:r>
              <a:rPr lang="en-US" sz="15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15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aunches Streamlit</a:t>
            </a:r>
            <a:r>
              <a:rPr lang="en-US" sz="15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 Interactive Dashboard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b="0" i="0" lang="en-US" sz="15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7-page dashboard: Overview, Triage, Contributors, Trends, Stale, Resolution, Labels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b="0" i="0" lang="en-US" sz="15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Sidebar filters: date range, state, labels, contributor (apply globally)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b="0" i="0" lang="en-US" sz="15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Computed metrics: time-to-first-response, days-to-close, staleness buckets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0_main.png" id="81" name="Google Shape;8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7862" y="2018163"/>
            <a:ext cx="6653213" cy="35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"/>
          <p:cNvSpPr/>
          <p:nvPr/>
        </p:nvSpPr>
        <p:spPr>
          <a:xfrm>
            <a:off x="5852160" y="5989320"/>
            <a:ext cx="594324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Dashboard landing page · live screenshot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0" y="6446520"/>
            <a:ext cx="12191400" cy="411120"/>
          </a:xfrm>
          <a:prstGeom prst="rect">
            <a:avLst/>
          </a:prstGeom>
          <a:solidFill>
            <a:srgbClr val="F7F8FA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457200" y="6580080"/>
            <a:ext cx="7314840" cy="15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ENPM611 — Poetry Issues Analytics — Team: Collins, Hunt, Shah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7772400" y="6580080"/>
            <a:ext cx="2742840" cy="15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10698480" y="6580080"/>
            <a:ext cx="1005480" cy="15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000" u="none" cap="none" strike="noStrike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b="1" lang="en-US" sz="10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0F1F3A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57200" y="640080"/>
            <a:ext cx="11246760" cy="45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What changed in the final design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57200" y="1115640"/>
            <a:ext cx="11246760" cy="22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Three categories of divergence from the milestone-1 submission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57200" y="1554480"/>
            <a:ext cx="11246760" cy="14760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57200" y="1828800"/>
            <a:ext cx="3748680" cy="5025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40080" y="1983600"/>
            <a:ext cx="3382920" cy="22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57200" y="2331720"/>
            <a:ext cx="3748680" cy="4023000"/>
          </a:xfrm>
          <a:prstGeom prst="rect">
            <a:avLst/>
          </a:prstGeom>
          <a:solidFill>
            <a:srgbClr val="F7F8FA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85800" y="2468880"/>
            <a:ext cx="3291480" cy="14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b="0" i="0" lang="en-US" sz="15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Streamlit dashboard module (dashboard/)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b="0" i="0" lang="en-US" sz="15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7 page modules under dashboard/pages/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b="0" i="0" lang="en-US" sz="15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Sidebar filter module (filters.py)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b="0" i="0" lang="en-US" sz="15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Metrics layer (metrics.py): 6 functions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b="0" i="0" lang="en-US" sz="15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Cached data loader (st.cache_data)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343400" y="1828800"/>
            <a:ext cx="3748680" cy="502560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526280" y="1983600"/>
            <a:ext cx="3382920" cy="22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343400" y="2331720"/>
            <a:ext cx="3748680" cy="4023000"/>
          </a:xfrm>
          <a:prstGeom prst="rect">
            <a:avLst/>
          </a:prstGeom>
          <a:solidFill>
            <a:srgbClr val="F7F8FA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572000" y="2468880"/>
            <a:ext cx="3291600" cy="21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state_analysis.py added which contains the StateAnalysis class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00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Labels analysis would now occur in it’s own class with insights related solely to labels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229600" y="1828800"/>
            <a:ext cx="3748680" cy="5025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412480" y="1983600"/>
            <a:ext cx="3382920" cy="229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Refined Requirements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8229600" y="2331720"/>
            <a:ext cx="3748680" cy="4023000"/>
          </a:xfrm>
          <a:prstGeom prst="rect">
            <a:avLst/>
          </a:prstGeom>
          <a:solidFill>
            <a:srgbClr val="F7F8FA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458200" y="2468880"/>
            <a:ext cx="3291480" cy="21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issue_pull.py not part of normal application usage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once then utilize the data via config.json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▎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Normalized results, reduced running time, and circumvented API request limits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0" y="6446520"/>
            <a:ext cx="12191400" cy="411120"/>
          </a:xfrm>
          <a:prstGeom prst="rect">
            <a:avLst/>
          </a:prstGeom>
          <a:solidFill>
            <a:srgbClr val="F7F8FA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57200" y="6580080"/>
            <a:ext cx="7314840" cy="15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ENPM611 — Poetry Issues Analytics — Team: Collins, Hunt, Shah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7772400" y="6580080"/>
            <a:ext cx="2742840" cy="15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Changes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0713421" y="6580080"/>
            <a:ext cx="10056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4 / </a:t>
            </a:r>
            <a:r>
              <a:rPr b="1" lang="en-US" sz="10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ef4f4d68b_0_54"/>
          <p:cNvSpPr txBox="1"/>
          <p:nvPr/>
        </p:nvSpPr>
        <p:spPr>
          <a:xfrm>
            <a:off x="1740600" y="1191600"/>
            <a:ext cx="8710800" cy="44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0"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1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0F1F3A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57200" y="640080"/>
            <a:ext cx="11246760" cy="45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Testing </a:t>
            </a:r>
            <a:r>
              <a:rPr b="1" lang="en-US" sz="30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Suite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57200" y="1115640"/>
            <a:ext cx="11246760" cy="22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unittest and coverage </a:t>
            </a:r>
            <a:r>
              <a:rPr lang="en-US" sz="15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modules for obtaining 90%+ code coverage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57200" y="1554480"/>
            <a:ext cx="11246760" cy="14760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57200" y="1828800"/>
            <a:ext cx="5668920" cy="21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Coverage by layer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57200" y="2286000"/>
            <a:ext cx="91080" cy="10512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40080" y="2286000"/>
            <a:ext cx="5486040" cy="21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b="1" i="0" lang="en-US" sz="1600" u="none" cap="none" strike="noStrike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 (7 modules)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40080" y="2697480"/>
            <a:ext cx="54861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Loaded via runpy under a mocked streamlit; assert KPI labels</a:t>
            </a:r>
            <a:r>
              <a:rPr lang="en-US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 underneath all the pages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57200" y="3520440"/>
            <a:ext cx="91080" cy="1051200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40080" y="3520440"/>
            <a:ext cx="5486040" cy="21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r>
              <a:rPr b="1" i="0" lang="en-US" sz="1600" u="none" cap="none" strike="noStrike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6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(3</a:t>
            </a:r>
            <a:r>
              <a:rPr b="1" i="0" lang="en-US" sz="1600" u="none" cap="none" strike="noStrike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 functions)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40075" y="3931928"/>
            <a:ext cx="54861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Heavy usage of function patching to only make the functions within the features run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57200" y="4754880"/>
            <a:ext cx="91080" cy="10512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40080" y="4754880"/>
            <a:ext cx="5486040" cy="21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Utilities (3 files)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40075" y="5166342"/>
            <a:ext cx="54861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Separately</a:t>
            </a:r>
            <a:r>
              <a:rPr lang="en-US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 tested utilities as they were patched for features and dashboard testing. Optimized tests for code coverage.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164725" y="1691642"/>
            <a:ext cx="52116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Test Coverage Output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0" y="6446520"/>
            <a:ext cx="12191400" cy="411120"/>
          </a:xfrm>
          <a:prstGeom prst="rect">
            <a:avLst/>
          </a:prstGeom>
          <a:solidFill>
            <a:srgbClr val="F7F8FA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57200" y="6580080"/>
            <a:ext cx="7314840" cy="15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ENPM611 — Poetry Issues Analytics — Team: Collins, Hunt, Shah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7772400" y="6580080"/>
            <a:ext cx="2742840" cy="15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0698480" y="6580080"/>
            <a:ext cx="10056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1000" u="none" cap="none" strike="noStrike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b="1" lang="en-US" sz="10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4726" y="2026075"/>
            <a:ext cx="4450425" cy="4347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0F1F3A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57200" y="640080"/>
            <a:ext cx="11246760" cy="45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Bugs Discovered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57200" y="1115640"/>
            <a:ext cx="112467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Unexpected issues with code in main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57200" y="1554480"/>
            <a:ext cx="11246760" cy="14760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57200" y="1828800"/>
            <a:ext cx="91080" cy="132552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40080" y="1828800"/>
            <a:ext cx="109725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Testing Utility Bug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40080" y="2212920"/>
            <a:ext cx="10972440" cy="18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The test utility had a bug in how it located the root directory, which caused path resolution problems when running tests.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40080" y="2743200"/>
            <a:ext cx="10972440" cy="18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5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Fix: Updated the utility to search for the project root directory during test execution.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57200" y="3337560"/>
            <a:ext cx="91080" cy="132552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40080" y="3337560"/>
            <a:ext cx="10972440" cy="22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Wrong divisor in LabelsAnalysis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40080" y="3721680"/>
            <a:ext cx="10972440" cy="18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Average time-to-close per label divides the per-label time sum by the TOTAL number of closed issues, not by the count of closed issues with that label.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40080" y="4251960"/>
            <a:ext cx="10972440" cy="18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5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Fix</a:t>
            </a:r>
            <a:r>
              <a:rPr b="0" i="0" lang="en-US" sz="15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5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Compute average close time per label by dividing each label's accumulated close time by that label's own closed-issue frequency.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57200" y="4846320"/>
            <a:ext cx="91080" cy="1325520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40080" y="4846320"/>
            <a:ext cx="10972440" cy="22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Failed Configuration Load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40080" y="5230440"/>
            <a:ext cx="10972440" cy="18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The configuration loader is not reading the expected JSON config value during test execution (file/path loading path mismatch)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40080" y="5760720"/>
            <a:ext cx="10972440" cy="18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→ Fix: </a:t>
            </a:r>
            <a:r>
              <a:rPr lang="en-US" sz="15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Ensure config.py loads from the project config.json in test context and that file-based values are merged before parameter reads.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0" y="6446520"/>
            <a:ext cx="12191400" cy="411120"/>
          </a:xfrm>
          <a:prstGeom prst="rect">
            <a:avLst/>
          </a:prstGeom>
          <a:solidFill>
            <a:srgbClr val="F7F8FA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57200" y="6580080"/>
            <a:ext cx="7314840" cy="15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ENPM611 — Poetry Issues Analytics — Team: Collins, Hunt, Shah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7772400" y="6580080"/>
            <a:ext cx="2742840" cy="15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Bugs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0698480" y="6580080"/>
            <a:ext cx="1005480" cy="15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6 / 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/>
          <p:nvPr/>
        </p:nvSpPr>
        <p:spPr>
          <a:xfrm>
            <a:off x="0" y="0"/>
            <a:ext cx="12191400" cy="502500"/>
          </a:xfrm>
          <a:prstGeom prst="rect">
            <a:avLst/>
          </a:prstGeom>
          <a:solidFill>
            <a:srgbClr val="0F1F3A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57200" y="640080"/>
            <a:ext cx="112467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57200" y="1115640"/>
            <a:ext cx="112467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Three honest answers — and the lesson behind each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57200" y="1554480"/>
            <a:ext cx="11246700" cy="14700"/>
          </a:xfrm>
          <a:prstGeom prst="rect">
            <a:avLst/>
          </a:prstGeom>
          <a:solidFill>
            <a:srgbClr val="E5E7EB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57200" y="1828800"/>
            <a:ext cx="63600" cy="13254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640080" y="1828800"/>
            <a:ext cx="111552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 sz="15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Initial Design Scoping is Difficult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640075" y="2212927"/>
            <a:ext cx="111552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Milestone 1 asked for entity relationships and class structure, so we delivered exactly that. We never asked the next question — "what </a:t>
            </a:r>
            <a:r>
              <a:rPr lang="en-US" sz="135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additional features might we want to implement</a:t>
            </a:r>
            <a:r>
              <a:rPr b="0" i="0" lang="en-US" sz="1350" u="none" cap="none" strike="noStrike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" — until we started building. Sticking to t</a:t>
            </a:r>
            <a:r>
              <a:rPr lang="en-US" sz="135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he design diagram during implementation felt more restrictive than useful.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640080" y="2788920"/>
            <a:ext cx="111552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→ Lesson: </a:t>
            </a:r>
            <a:r>
              <a:rPr b="1" lang="en-US" sz="135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Look beyond the milestone deadline to make a decision on what will be </a:t>
            </a:r>
            <a:r>
              <a:rPr b="1" lang="en-US" sz="135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implemented</a:t>
            </a:r>
            <a:r>
              <a:rPr b="1" lang="en-US" sz="135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 and how the design will be done.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57200" y="3337560"/>
            <a:ext cx="63600" cy="13254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40080" y="3337560"/>
            <a:ext cx="111552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lang="en-US" sz="15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GitHub Issues Tracking is Super Useful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640075" y="3721673"/>
            <a:ext cx="111552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Before Milestone 2 we were coordinating all of our </a:t>
            </a:r>
            <a:r>
              <a:rPr lang="en-US" sz="135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efforts via calls and text messages. It quickly became difficult to keep track of who was doing what and what needed to get done. 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40080" y="4297680"/>
            <a:ext cx="111552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→ Lesson: </a:t>
            </a:r>
            <a:r>
              <a:rPr b="1" lang="en-US" sz="135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GitHub Issues exists for a reason. This made </a:t>
            </a:r>
            <a:r>
              <a:rPr b="1" lang="en-US" sz="135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tracking</a:t>
            </a:r>
            <a:r>
              <a:rPr b="1" lang="en-US" sz="135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 progress and milestone related tasks so much easier.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57200" y="4846320"/>
            <a:ext cx="63600" cy="13254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640080" y="4846320"/>
            <a:ext cx="111552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lang="en-US" sz="15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Testing May Result in Restructure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40075" y="5230453"/>
            <a:ext cx="111552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Our goal with Milestone 3 was to write tests such that 90%+ code coverage would be achieved. It turns out that the current code base wasn’t </a:t>
            </a:r>
            <a:r>
              <a:rPr lang="en-US" sz="1350">
                <a:solidFill>
                  <a:srgbClr val="1A1D29"/>
                </a:solidFill>
                <a:latin typeface="Calibri"/>
                <a:ea typeface="Calibri"/>
                <a:cs typeface="Calibri"/>
                <a:sym typeface="Calibri"/>
              </a:rPr>
              <a:t>easily testable, requiring file structure and functions to be moved around to enable testing and achieve coverage.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640080" y="5806440"/>
            <a:ext cx="111552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→ Lesson: </a:t>
            </a:r>
            <a:r>
              <a:rPr b="1" lang="en-US" sz="135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Consider entry points for testing when writing code.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0" y="6446520"/>
            <a:ext cx="12191400" cy="411000"/>
          </a:xfrm>
          <a:prstGeom prst="rect">
            <a:avLst/>
          </a:prstGeom>
          <a:solidFill>
            <a:srgbClr val="F7F8FA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457200" y="6580080"/>
            <a:ext cx="73149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ENPM611 — Poetry Issues Analytics — Team: Collins, Hunt, Shah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7772400" y="6580080"/>
            <a:ext cx="27429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Lessons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10698480" y="6580080"/>
            <a:ext cx="10056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F1F3A"/>
                </a:solidFill>
                <a:latin typeface="Calibri"/>
                <a:ea typeface="Calibri"/>
                <a:cs typeface="Calibri"/>
                <a:sym typeface="Calibri"/>
              </a:rPr>
              <a:t>7 / 7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